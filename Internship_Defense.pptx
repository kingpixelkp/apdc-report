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9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3" name="Shape 1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4" name="Shape 2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5" name="Shape 3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6" name="Shape 4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7" name="Shape 5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8" name="Shape 6"/>
          <p:cNvSpPr/>
          <p:nvPr/>
        </p:nvSpPr>
        <p:spPr>
          <a:xfrm>
            <a:off x="822960" y="822960"/>
            <a:ext cx="1188720" cy="118872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422" y="1090422"/>
            <a:ext cx="653796" cy="6537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2468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CURRICULAR DEVELOPMENT ACTIVITY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" y="28346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Programmatic Control of SDR Hardware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GNSS Signal Transmission</a:t>
            </a:r>
            <a:endParaRPr lang="en-US" sz="3800" dirty="0"/>
          </a:p>
        </p:txBody>
      </p:sp>
      <p:sp>
        <p:nvSpPr>
          <p:cNvPr id="12" name="Text 9"/>
          <p:cNvSpPr/>
          <p:nvPr/>
        </p:nvSpPr>
        <p:spPr>
          <a:xfrm>
            <a:off x="548640" y="4754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Matias Falcão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in Computer Science — NOVA FCT  |  Initial curricular stage + continuation at GMV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4864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11 — July 17,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GNSS signal simulation matters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393338" cy="402336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10312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1006" y="2288286"/>
            <a:ext cx="452628" cy="4526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06324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GNSS constellations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60120" y="3657600"/>
            <a:ext cx="27532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GPS, Galileo, GLONASS, BeiDou — satellites broadcasting positioning signals to receivers worldwide.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99178" y="1737360"/>
            <a:ext cx="3393338" cy="402336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64938" y="210312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104" y="2288286"/>
            <a:ext cx="452628" cy="4526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19218" y="306324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 simulators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719218" y="3657600"/>
            <a:ext cx="27532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satellite signals on the ground, enabling controlled, repeatable receiver testing without waiting on real satellites.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58277" y="1737360"/>
            <a:ext cx="3393338" cy="402336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24037" y="210312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203" y="2288286"/>
            <a:ext cx="452628" cy="45262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78317" y="306324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SDR as the transmission layer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78317" y="3657600"/>
            <a:ext cx="27532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Pre-computed I/Q samples are streamed through Software-Defined Radio hardware to produce realistic RF signals.</a:t>
            </a:r>
            <a:endParaRPr lang="en-US" sz="12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gap between hardware and high-level intent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685800" cy="685800"/>
          </a:xfrm>
          <a:prstGeom prst="ellipse">
            <a:avLst/>
          </a:prstGeom>
          <a:solidFill>
            <a:srgbClr val="F6EEF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385" y="1983105"/>
            <a:ext cx="377190" cy="3771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7830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DTAPI is low-level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394960" y="178308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DekTec SDR hardware requires precise call sequencing, manual state management, and direct handling of FIFO/DMA details.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246120"/>
            <a:ext cx="685800" cy="685800"/>
          </a:xfrm>
          <a:prstGeom prst="ellipse">
            <a:avLst/>
          </a:prstGeom>
          <a:solidFill>
            <a:srgbClr val="F6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" y="3400425"/>
            <a:ext cx="377190" cy="37719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32004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bridge to open-source tools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394960" y="320040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solution connects open-source GNSS I/Q generators to professional-grade SDR hardware.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4663440"/>
            <a:ext cx="685800" cy="685800"/>
          </a:xfrm>
          <a:prstGeom prst="ellipse">
            <a:avLst/>
          </a:prstGeom>
          <a:solidFill>
            <a:srgbClr val="F6EEF0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" y="4817745"/>
            <a:ext cx="377190" cy="37719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54480" y="46177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RS-232 is only a physical link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5394960" y="46177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serial interface solves transport at the electrical level, but a robust high-level control path still has to be carried across it.</a:t>
            </a:r>
            <a:endParaRPr lang="en-US" sz="13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phases, one goal: programmatic control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5C0E2E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1031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719" y="2277999"/>
            <a:ext cx="427482" cy="427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01752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960120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SDR Control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60120" y="3931920"/>
            <a:ext cx="27532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BD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abstraction over the DTAPI for device management, signal transmission and synchronisation.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99178" y="173736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</p:spPr>
      </p:sp>
      <p:sp>
        <p:nvSpPr>
          <p:cNvPr id="11" name="Shape 8"/>
          <p:cNvSpPr/>
          <p:nvPr/>
        </p:nvSpPr>
        <p:spPr>
          <a:xfrm>
            <a:off x="4764938" y="21031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9817" y="2277999"/>
            <a:ext cx="427482" cy="4274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19218" y="301752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719218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Parameter Management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719218" y="3931920"/>
            <a:ext cx="27532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configuration system to manage SDR transmission parameters without low-level API calls.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58277" y="173736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</p:spPr>
      </p:sp>
      <p:sp>
        <p:nvSpPr>
          <p:cNvPr id="17" name="Shape 13"/>
          <p:cNvSpPr/>
          <p:nvPr/>
        </p:nvSpPr>
        <p:spPr>
          <a:xfrm>
            <a:off x="8524037" y="21031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8916" y="2277999"/>
            <a:ext cx="427482" cy="42748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78317" y="301752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8478317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RS-232 Connectivity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478317" y="3931920"/>
            <a:ext cx="27532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serial connectivity layer for integrating external equipment and exposing the control plane across that link.</a:t>
            </a:r>
            <a:endParaRPr lang="en-US" sz="12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EVOLUTION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rarely stay fixed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657600" cy="2743200"/>
          </a:xfrm>
          <a:prstGeom prst="roundRect">
            <a:avLst>
              <a:gd name="adj" fmla="val 2667"/>
            </a:avLst>
          </a:prstGeom>
          <a:solidFill>
            <a:srgbClr val="F6EEF0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1488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425" y="2303145"/>
            <a:ext cx="377190" cy="3771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0175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RS-485 to RS-232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352044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25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proposal mentioned RS-485, but the real equipment used RS-232 from the outset. This was identified early and had minimal design impact.</a:t>
            </a:r>
            <a:endParaRPr lang="en-US" sz="1225" dirty="0"/>
          </a:p>
        </p:txBody>
      </p:sp>
      <p:sp>
        <p:nvSpPr>
          <p:cNvPr id="9" name="Shape 6"/>
          <p:cNvSpPr/>
          <p:nvPr/>
        </p:nvSpPr>
        <p:spPr>
          <a:xfrm>
            <a:off x="4526280" y="1828800"/>
            <a:ext cx="3657600" cy="2743200"/>
          </a:xfrm>
          <a:prstGeom prst="roundRect">
            <a:avLst>
              <a:gd name="adj" fmla="val 2667"/>
            </a:avLst>
          </a:prstGeom>
          <a:solidFill>
            <a:srgbClr val="F6EEF0"/>
          </a:solidFill>
          <a:ln/>
        </p:spPr>
      </p:sp>
      <p:sp>
        <p:nvSpPr>
          <p:cNvPr id="10" name="Shape 7"/>
          <p:cNvSpPr/>
          <p:nvPr/>
        </p:nvSpPr>
        <p:spPr>
          <a:xfrm>
            <a:off x="4846320" y="21488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25" y="2303145"/>
            <a:ext cx="377190" cy="3771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846320" y="30175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PPP replaced custom serial protocol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846320" y="352044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25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bespoke RS-232 application protocol was dropped in favour of PPP over the serial link, so the existing gRPC control plane could run over IP unchanged.</a:t>
            </a:r>
            <a:endParaRPr lang="en-US" sz="1225" dirty="0"/>
          </a:p>
        </p:txBody>
      </p:sp>
      <p:sp>
        <p:nvSpPr>
          <p:cNvPr id="14" name="Shape 10"/>
          <p:cNvSpPr/>
          <p:nvPr/>
        </p:nvSpPr>
        <p:spPr>
          <a:xfrm>
            <a:off x="8412480" y="1828800"/>
            <a:ext cx="3108960" cy="2743200"/>
          </a:xfrm>
          <a:prstGeom prst="roundRect">
            <a:avLst>
              <a:gd name="adj" fmla="val 2667"/>
            </a:avLst>
          </a:prstGeom>
          <a:solidFill>
            <a:srgbClr val="5C0E2E"/>
          </a:solidFill>
          <a:ln/>
        </p:spPr>
      </p:sp>
      <p:sp>
        <p:nvSpPr>
          <p:cNvPr id="15" name="Shape 11"/>
          <p:cNvSpPr/>
          <p:nvPr/>
        </p:nvSpPr>
        <p:spPr>
          <a:xfrm>
            <a:off x="8732520" y="21488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6825" y="2303145"/>
            <a:ext cx="377190" cy="37719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732520" y="3017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Continuation at GMV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732520" y="35204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25" dirty="0">
                <a:solidFill>
                  <a:srgbClr val="EBD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final architectural decisions were completed after the curricular stage, once the work continued directly under GMV.</a:t>
            </a:r>
            <a:endParaRPr lang="en-US" sz="1225" dirty="0"/>
          </a:p>
        </p:txBody>
      </p:sp>
      <p:sp>
        <p:nvSpPr>
          <p:cNvPr id="19" name="Shape 14"/>
          <p:cNvSpPr/>
          <p:nvPr/>
        </p:nvSpPr>
        <p:spPr>
          <a:xfrm>
            <a:off x="640080" y="4892040"/>
            <a:ext cx="10881360" cy="685800"/>
          </a:xfrm>
          <a:prstGeom prst="roundRect">
            <a:avLst>
              <a:gd name="adj" fmla="val 6667"/>
            </a:avLst>
          </a:prstGeom>
          <a:solidFill>
            <a:srgbClr val="F2E8EB"/>
          </a:solidFill>
          <a:ln w="12700">
            <a:solidFill>
              <a:srgbClr val="E4DC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CONTROL SYSTEM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Client-server architecture over gRPC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933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Client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3957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user-facing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92024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5C0E2E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0" y="19933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23957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577840" y="1920240"/>
            <a:ext cx="2194560" cy="822960"/>
          </a:xfrm>
          <a:prstGeom prst="roundRect">
            <a:avLst>
              <a:gd name="adj" fmla="val 6667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0" y="19933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+ dt_facade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0" y="23957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DTAPI wrapper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412480" y="1920240"/>
            <a:ext cx="1463040" cy="822960"/>
          </a:xfrm>
          <a:prstGeom prst="roundRect">
            <a:avLst>
              <a:gd name="adj" fmla="val 6667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03920" y="1993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DTAPI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03920" y="2395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SDK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149840" y="1920240"/>
            <a:ext cx="1463040" cy="822960"/>
          </a:xfrm>
          <a:prstGeom prst="roundRect">
            <a:avLst>
              <a:gd name="adj" fmla="val 6667"/>
            </a:avLst>
          </a:prstGeom>
          <a:solidFill>
            <a:srgbClr val="0FA3A3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41280" y="1993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DTA-2115B 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DTA-2116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241280" y="2395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PCIe cards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468880" y="2331720"/>
            <a:ext cx="64008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937760" y="2331720"/>
            <a:ext cx="64008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772400" y="2331720"/>
            <a:ext cx="64008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875520" y="2331720"/>
            <a:ext cx="27432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926080" y="2880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.proto contract — stub &amp; skeleton autogenerated by protoc from the same source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636"/>
            </a:avLst>
          </a:prstGeom>
          <a:solidFill>
            <a:srgbClr val="F6EEF0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840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gRPC?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425196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&amp; performance — proven in production systems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Strongly-typed contract between server and client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— debugging, config parsing, command discovery for free</a:t>
            </a:r>
            <a:endParaRPr lang="en-US" sz="13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principles across both systems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19456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719" y="2369439"/>
            <a:ext cx="427482" cy="427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15468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Errors as values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3749040"/>
            <a:ext cx="27532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std::expected&lt;T,E&gt; instead of exceptions or C-style codes — explicit, compile-time checked error handling.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99178" y="182880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64938" y="219456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9817" y="2369439"/>
            <a:ext cx="427482" cy="4274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19218" y="315468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CMake build system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719218" y="3749040"/>
            <a:ext cx="27532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Easier integration with surrounding toolchains, test workflows, and packaging in a conventional C++ environment.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58277" y="182880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24037" y="219456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8916" y="2369439"/>
            <a:ext cx="427482" cy="42748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78317" y="315468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Reuse standard stacks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78317" y="3749040"/>
            <a:ext cx="27532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PPP over RS-232 creates an IP link, allowing the same gRPC interface to be reused instead of maintaining a second custom protocol.</a:t>
            </a:r>
            <a:endParaRPr lang="en-US" sz="12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CONTROL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demonstration of the SDR control system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3931920"/>
          </a:xfrm>
          <a:prstGeom prst="roundRect">
            <a:avLst>
              <a:gd name="adj" fmla="val 1860"/>
            </a:avLst>
          </a:prstGeom>
          <a:solidFill>
            <a:srgbClr val="F6EEF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RS-232 INTERFACE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PPP over RS-232 carrying an IP channel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651760" cy="822960"/>
          </a:xfrm>
          <a:prstGeom prst="roundRect">
            <a:avLst>
              <a:gd name="adj" fmla="val 6667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011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Client 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3291840"/>
            <a:ext cx="2651760" cy="822960"/>
          </a:xfrm>
          <a:prstGeom prst="roundRect">
            <a:avLst>
              <a:gd name="adj" fmla="val 6667"/>
            </a:avLst>
          </a:prstGeom>
          <a:solidFill>
            <a:srgbClr val="5C0E2E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2918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Stack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572000"/>
            <a:ext cx="2651760" cy="822960"/>
          </a:xfrm>
          <a:prstGeom prst="roundRect">
            <a:avLst>
              <a:gd name="adj" fmla="val 6667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5720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PPP Endpoint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23360" y="457200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0FA3A3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23360" y="45720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RS-232 Serial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965960" y="2834640"/>
            <a:ext cx="0" cy="45720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965960" y="4114800"/>
            <a:ext cx="0" cy="45720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291840" y="4983480"/>
            <a:ext cx="73152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406640" y="2011680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F6EEF0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0" y="2194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ideas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680960" y="265176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RS-232 is kept as the physical transport only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PPP creates a point-to-point IP link over the serial byte stream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gRPC control plane then runs unchanged over that link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duplicated protocol logic, easier testing and debugging</a:t>
            </a:r>
            <a:endParaRPr lang="en-US" sz="12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 tester and unit tests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120640" cy="3931920"/>
          </a:xfrm>
          <a:prstGeom prst="roundRect">
            <a:avLst>
              <a:gd name="adj" fmla="val 1860"/>
            </a:avLst>
          </a:prstGeom>
          <a:solidFill>
            <a:srgbClr val="F6EEF0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1031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425" y="2257425"/>
            <a:ext cx="377190" cy="3771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1945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 tester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29260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Simulates the remote receiver over PPP on top of RS-232, exercising the serial link, IP transport and gRPC control path end-to-end.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60120" y="40690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the full path in a realistic setup, so integration problems appear before deployment.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35040" y="182880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5C0E2E"/>
          </a:solidFill>
          <a:ln/>
        </p:spPr>
      </p:sp>
      <p:sp>
        <p:nvSpPr>
          <p:cNvPr id="11" name="Shape 8"/>
          <p:cNvSpPr/>
          <p:nvPr/>
        </p:nvSpPr>
        <p:spPr>
          <a:xfrm>
            <a:off x="6355080" y="21031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9385" y="2257425"/>
            <a:ext cx="377190" cy="37719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78040" y="21945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tests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355080" y="29260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BD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smaller pieces of logic in isolation, making regressions easier to catch and debug during development.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355080" y="429768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D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with the external tester, they provide both component-level confidence and end-to-end validation.</a:t>
            </a:r>
            <a:endParaRPr lang="en-US" sz="12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hard problems actually were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27168" cy="3657600"/>
          </a:xfrm>
          <a:prstGeom prst="roundRect">
            <a:avLst>
              <a:gd name="adj" fmla="val 2000"/>
            </a:avLst>
          </a:prstGeom>
          <a:solidFill>
            <a:srgbClr val="F6EEF0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28600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719" y="2460879"/>
            <a:ext cx="427482" cy="427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246120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DTAPI quirks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60120" y="3840480"/>
            <a:ext cx="4587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DTAPI documentation isn't always accurate; some functions have unexpected side effects. Some don't show complete error information.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24448" y="1920240"/>
            <a:ext cx="5227168" cy="3657600"/>
          </a:xfrm>
          <a:prstGeom prst="roundRect">
            <a:avLst>
              <a:gd name="adj" fmla="val 2000"/>
            </a:avLst>
          </a:prstGeom>
          <a:solidFill>
            <a:srgbClr val="F6EEF0"/>
          </a:solidFill>
          <a:ln/>
        </p:spPr>
      </p:sp>
      <p:sp>
        <p:nvSpPr>
          <p:cNvPr id="10" name="Shape 7"/>
          <p:cNvSpPr/>
          <p:nvPr/>
        </p:nvSpPr>
        <p:spPr>
          <a:xfrm>
            <a:off x="6690208" y="228600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5087" y="2460879"/>
            <a:ext cx="427482" cy="4274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644488" y="3246120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Serial driver &amp; wiring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644488" y="3840480"/>
            <a:ext cx="4587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8250 driver was insufficient for the WCH CH382 card; replaced with the vendor driver. A missing null-modem adapter caused two DTE devices to transmit into each other's TX line.</a:t>
            </a:r>
            <a:endParaRPr lang="en-US" sz="13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D09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systems, one consistent engineering approach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48640" cy="54864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2226564"/>
            <a:ext cx="301752" cy="3017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208483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Control System — a clean, remotely accessible, gRPC-based abstraction over the DTAPI.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" y="3369564"/>
            <a:ext cx="301752" cy="3017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322783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RS-232 Interface — PPP over serial providing a standard IP channel for the same gRPC control plane.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40080" y="4389120"/>
            <a:ext cx="548640" cy="54864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4512564"/>
            <a:ext cx="301752" cy="30175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17320" y="437083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extensibility paid off for external, unpredictable change — but generality pursued ahead of need had a real cost.</a:t>
            </a:r>
            <a:endParaRPr lang="en-US" sz="15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15" name="Text 9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D09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0048" y="2011680"/>
            <a:ext cx="1371600" cy="137160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2948" y="235458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6576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0" y="43891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Internship Defense — SDR Control &amp; PPP over RS-232 (GMV)</dc:title>
  <dc:subject>PptxGenJS Presentation</dc:subject>
  <dc:creator>Gabriel Matias Falcão</dc:creator>
  <cp:lastModifiedBy>Gabriel Matias Falcão</cp:lastModifiedBy>
  <cp:revision>1</cp:revision>
  <dcterms:created xsi:type="dcterms:W3CDTF">2026-07-13T13:21:10Z</dcterms:created>
  <dcterms:modified xsi:type="dcterms:W3CDTF">2026-07-13T13:21:10Z</dcterms:modified>
</cp:coreProperties>
</file>