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D09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728655" y="274320"/>
            <a:ext cx="18288" cy="18288"/>
          </a:xfrm>
          <a:prstGeom prst="ellipse">
            <a:avLst/>
          </a:prstGeom>
          <a:noFill/>
          <a:ln/>
        </p:spPr>
      </p:sp>
      <p:sp>
        <p:nvSpPr>
          <p:cNvPr id="3" name="Shape 1"/>
          <p:cNvSpPr/>
          <p:nvPr/>
        </p:nvSpPr>
        <p:spPr>
          <a:xfrm>
            <a:off x="10728655" y="274320"/>
            <a:ext cx="18288" cy="18288"/>
          </a:xfrm>
          <a:prstGeom prst="ellipse">
            <a:avLst/>
          </a:prstGeom>
          <a:noFill/>
          <a:ln/>
        </p:spPr>
      </p:sp>
      <p:sp>
        <p:nvSpPr>
          <p:cNvPr id="4" name="Shape 2"/>
          <p:cNvSpPr/>
          <p:nvPr/>
        </p:nvSpPr>
        <p:spPr>
          <a:xfrm>
            <a:off x="10728655" y="274320"/>
            <a:ext cx="18288" cy="18288"/>
          </a:xfrm>
          <a:prstGeom prst="ellipse">
            <a:avLst/>
          </a:prstGeom>
          <a:noFill/>
          <a:ln/>
        </p:spPr>
      </p:sp>
      <p:sp>
        <p:nvSpPr>
          <p:cNvPr id="5" name="Shape 3"/>
          <p:cNvSpPr/>
          <p:nvPr/>
        </p:nvSpPr>
        <p:spPr>
          <a:xfrm>
            <a:off x="10728655" y="274320"/>
            <a:ext cx="18288" cy="18288"/>
          </a:xfrm>
          <a:prstGeom prst="ellipse">
            <a:avLst/>
          </a:prstGeom>
          <a:noFill/>
          <a:ln/>
        </p:spPr>
      </p:sp>
      <p:sp>
        <p:nvSpPr>
          <p:cNvPr id="6" name="Shape 4"/>
          <p:cNvSpPr/>
          <p:nvPr/>
        </p:nvSpPr>
        <p:spPr>
          <a:xfrm>
            <a:off x="10728655" y="274320"/>
            <a:ext cx="18288" cy="18288"/>
          </a:xfrm>
          <a:prstGeom prst="ellipse">
            <a:avLst/>
          </a:prstGeom>
          <a:noFill/>
          <a:ln/>
        </p:spPr>
      </p:sp>
      <p:sp>
        <p:nvSpPr>
          <p:cNvPr id="7" name="Shape 5"/>
          <p:cNvSpPr/>
          <p:nvPr/>
        </p:nvSpPr>
        <p:spPr>
          <a:xfrm>
            <a:off x="10728655" y="274320"/>
            <a:ext cx="18288" cy="18288"/>
          </a:xfrm>
          <a:prstGeom prst="ellipse">
            <a:avLst/>
          </a:prstGeom>
          <a:noFill/>
          <a:ln/>
        </p:spPr>
      </p:sp>
      <p:sp>
        <p:nvSpPr>
          <p:cNvPr id="8" name="Shape 6"/>
          <p:cNvSpPr/>
          <p:nvPr/>
        </p:nvSpPr>
        <p:spPr>
          <a:xfrm>
            <a:off x="822960" y="822960"/>
            <a:ext cx="1188720" cy="1188720"/>
          </a:xfrm>
          <a:prstGeom prst="ellipse">
            <a:avLst/>
          </a:prstGeom>
          <a:solidFill>
            <a:srgbClr val="5C0E2E"/>
          </a:solidFill>
          <a:ln/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0422" y="1090422"/>
            <a:ext cx="653796" cy="653796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548640" y="246888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0FA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CURRICULAR DEVELOPMENT ACTIVITY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548640" y="2834640"/>
            <a:ext cx="105156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Programmatic Control of SDR Hardware</a:t>
            </a:r>
            <a:endParaRPr lang="en-US" sz="38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 GNSS Signal Transmission</a:t>
            </a:r>
            <a:endParaRPr lang="en-US" sz="3800" dirty="0"/>
          </a:p>
        </p:txBody>
      </p:sp>
      <p:sp>
        <p:nvSpPr>
          <p:cNvPr id="12" name="Text 9"/>
          <p:cNvSpPr/>
          <p:nvPr/>
        </p:nvSpPr>
        <p:spPr>
          <a:xfrm>
            <a:off x="548640" y="4754880"/>
            <a:ext cx="9144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8C7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Gabriel Matias Falcão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D8C7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Bachelor in Computer Science — NOVA FCT  |  Internship at GMV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548640" y="612648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B7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March 11 — July 17, 2026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5C0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B27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GNSS signal simulation matters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737360"/>
            <a:ext cx="3393338" cy="4023360"/>
          </a:xfrm>
          <a:prstGeom prst="roundRect">
            <a:avLst>
              <a:gd name="adj" fmla="val 2156"/>
            </a:avLst>
          </a:prstGeom>
          <a:solidFill>
            <a:srgbClr val="F6EEF0"/>
          </a:solidFill>
          <a:ln/>
          <a:effectLst>
            <a:outerShdw sx="100000" sy="100000" kx="0" ky="0" algn="bl" rotWithShape="0" blurRad="101600" dist="38100" dir="5400000">
              <a:srgbClr val="000000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005840" y="2103120"/>
            <a:ext cx="822960" cy="82296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91006" y="2288286"/>
            <a:ext cx="452628" cy="45262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60120" y="3063240"/>
            <a:ext cx="275325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B27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GNSS constellations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960120" y="3657600"/>
            <a:ext cx="2753258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6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GPS, Galileo, GLONASS, BeiDou — satellites broadcasting positioning signals to receivers worldwide.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4399178" y="1737360"/>
            <a:ext cx="3393338" cy="4023360"/>
          </a:xfrm>
          <a:prstGeom prst="roundRect">
            <a:avLst>
              <a:gd name="adj" fmla="val 2156"/>
            </a:avLst>
          </a:prstGeom>
          <a:solidFill>
            <a:srgbClr val="F6EEF0"/>
          </a:solidFill>
          <a:ln/>
          <a:effectLst>
            <a:outerShdw sx="100000" sy="100000" kx="0" ky="0" algn="bl" rotWithShape="0" blurRad="101600" dist="381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64938" y="2103120"/>
            <a:ext cx="822960" cy="82296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50104" y="2288286"/>
            <a:ext cx="452628" cy="45262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19218" y="3063240"/>
            <a:ext cx="275325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B27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Signal simulators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4719218" y="3657600"/>
            <a:ext cx="2753258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6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Reproduce satellite signals on the ground, enabling controlled, repeatable receiver testing without waiting on real satellites.</a:t>
            </a:r>
            <a:endParaRPr lang="en-US" sz="1250" dirty="0"/>
          </a:p>
        </p:txBody>
      </p:sp>
      <p:sp>
        <p:nvSpPr>
          <p:cNvPr id="14" name="Shape 10"/>
          <p:cNvSpPr/>
          <p:nvPr/>
        </p:nvSpPr>
        <p:spPr>
          <a:xfrm>
            <a:off x="8158277" y="1737360"/>
            <a:ext cx="3393338" cy="4023360"/>
          </a:xfrm>
          <a:prstGeom prst="roundRect">
            <a:avLst>
              <a:gd name="adj" fmla="val 2156"/>
            </a:avLst>
          </a:prstGeom>
          <a:solidFill>
            <a:srgbClr val="F6EEF0"/>
          </a:solidFill>
          <a:ln/>
          <a:effectLst>
            <a:outerShdw sx="100000" sy="100000" kx="0" ky="0" algn="bl" rotWithShape="0" blurRad="101600" dist="38100" dir="5400000">
              <a:srgbClr val="000000">
                <a:alpha val="8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524037" y="2103120"/>
            <a:ext cx="822960" cy="82296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09203" y="2288286"/>
            <a:ext cx="452628" cy="45262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478317" y="3063240"/>
            <a:ext cx="275325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B27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SDR as the transmission layer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8478317" y="3657600"/>
            <a:ext cx="2753258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6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Pre-computed I/Q samples are streamed through Software-Defined Radio hardware to produce realistic RF signals.</a:t>
            </a:r>
            <a:endParaRPr lang="en-US" sz="1250" dirty="0"/>
          </a:p>
        </p:txBody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728655" y="6336792"/>
            <a:ext cx="731520" cy="320040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21" name="Text 15"/>
          <p:cNvSpPr/>
          <p:nvPr/>
        </p:nvSpPr>
        <p:spPr>
          <a:xfrm>
            <a:off x="457200" y="64465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GMV — SDR Control &amp; RS-232 Interface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5C0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B27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gap between hardware and high-level intent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685800" cy="685800"/>
          </a:xfrm>
          <a:prstGeom prst="ellipse">
            <a:avLst/>
          </a:prstGeom>
          <a:solidFill>
            <a:srgbClr val="F6EEF0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4385" y="1983105"/>
            <a:ext cx="377190" cy="37719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554480" y="17830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2B27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DTAPI is low-level</a:t>
            </a:r>
            <a:endParaRPr lang="en-US" sz="1700" dirty="0"/>
          </a:p>
        </p:txBody>
      </p:sp>
      <p:sp>
        <p:nvSpPr>
          <p:cNvPr id="7" name="Text 4"/>
          <p:cNvSpPr/>
          <p:nvPr/>
        </p:nvSpPr>
        <p:spPr>
          <a:xfrm>
            <a:off x="5394960" y="1783080"/>
            <a:ext cx="6035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6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Configuring DekTec SDR hardware requires precise call sequencing, manual state management, and direct handling of FIFO/DMA details.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640080" y="3246120"/>
            <a:ext cx="685800" cy="685800"/>
          </a:xfrm>
          <a:prstGeom prst="ellipse">
            <a:avLst/>
          </a:prstGeom>
          <a:solidFill>
            <a:srgbClr val="F6EEF0"/>
          </a:solidFill>
          <a:ln/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4385" y="3400425"/>
            <a:ext cx="377190" cy="37719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554480" y="320040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2B27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bridge to open-source tools</a:t>
            </a:r>
            <a:endParaRPr lang="en-US" sz="1700" dirty="0"/>
          </a:p>
        </p:txBody>
      </p:sp>
      <p:sp>
        <p:nvSpPr>
          <p:cNvPr id="11" name="Text 7"/>
          <p:cNvSpPr/>
          <p:nvPr/>
        </p:nvSpPr>
        <p:spPr>
          <a:xfrm>
            <a:off x="5394960" y="3200400"/>
            <a:ext cx="6035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6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existing solution connects open-source GNSS I/Q generators to professional-grade SDR hardware.</a:t>
            </a:r>
            <a:endParaRPr lang="en-US" sz="1350" dirty="0"/>
          </a:p>
        </p:txBody>
      </p:sp>
      <p:sp>
        <p:nvSpPr>
          <p:cNvPr id="12" name="Shape 8"/>
          <p:cNvSpPr/>
          <p:nvPr/>
        </p:nvSpPr>
        <p:spPr>
          <a:xfrm>
            <a:off x="640080" y="4663440"/>
            <a:ext cx="685800" cy="685800"/>
          </a:xfrm>
          <a:prstGeom prst="ellipse">
            <a:avLst/>
          </a:prstGeom>
          <a:solidFill>
            <a:srgbClr val="F6EEF0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4385" y="4817745"/>
            <a:ext cx="377190" cy="37719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554480" y="461772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2B27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RS-232 has no standard protocol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5394960" y="4617720"/>
            <a:ext cx="6035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6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Framing, message structure and field encoding are entirely bespoke — every integration reinvents the same byte-level logic.</a:t>
            </a:r>
            <a:endParaRPr lang="en-US" sz="135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728655" y="6336792"/>
            <a:ext cx="73152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457200" y="64465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GMV — SDR Control &amp; RS-232 Interface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5C0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PROPOSED WORK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B27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phases, one goal: programmatic control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737360"/>
            <a:ext cx="3393338" cy="3931920"/>
          </a:xfrm>
          <a:prstGeom prst="roundRect">
            <a:avLst>
              <a:gd name="adj" fmla="val 2156"/>
            </a:avLst>
          </a:prstGeom>
          <a:solidFill>
            <a:srgbClr val="5C0E2E"/>
          </a:solidFill>
          <a:ln/>
        </p:spPr>
      </p:sp>
      <p:sp>
        <p:nvSpPr>
          <p:cNvPr id="5" name="Shape 3"/>
          <p:cNvSpPr/>
          <p:nvPr/>
        </p:nvSpPr>
        <p:spPr>
          <a:xfrm>
            <a:off x="1005840" y="2103120"/>
            <a:ext cx="777240" cy="77724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80719" y="2277999"/>
            <a:ext cx="427482" cy="42748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60120" y="3017520"/>
            <a:ext cx="275325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0FA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</a:t>
            </a:r>
            <a:endParaRPr lang="en-US" sz="1150" dirty="0"/>
          </a:p>
        </p:txBody>
      </p:sp>
      <p:sp>
        <p:nvSpPr>
          <p:cNvPr id="8" name="Text 5"/>
          <p:cNvSpPr/>
          <p:nvPr/>
        </p:nvSpPr>
        <p:spPr>
          <a:xfrm>
            <a:off x="960120" y="3337560"/>
            <a:ext cx="275325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SDR Control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960120" y="3931920"/>
            <a:ext cx="275325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EBD9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C++ abstraction over the DTAPI for device management, signal transmission and synchronisation.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4399178" y="1737360"/>
            <a:ext cx="3393338" cy="3931920"/>
          </a:xfrm>
          <a:prstGeom prst="roundRect">
            <a:avLst>
              <a:gd name="adj" fmla="val 2156"/>
            </a:avLst>
          </a:prstGeom>
          <a:solidFill>
            <a:srgbClr val="F6EEF0"/>
          </a:solidFill>
          <a:ln/>
        </p:spPr>
      </p:sp>
      <p:sp>
        <p:nvSpPr>
          <p:cNvPr id="11" name="Shape 8"/>
          <p:cNvSpPr/>
          <p:nvPr/>
        </p:nvSpPr>
        <p:spPr>
          <a:xfrm>
            <a:off x="4764938" y="2103120"/>
            <a:ext cx="777240" cy="77724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9817" y="2277999"/>
            <a:ext cx="427482" cy="427482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19218" y="3017520"/>
            <a:ext cx="275325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5C0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</a:t>
            </a:r>
            <a:endParaRPr lang="en-US" sz="1150" dirty="0"/>
          </a:p>
        </p:txBody>
      </p:sp>
      <p:sp>
        <p:nvSpPr>
          <p:cNvPr id="14" name="Text 10"/>
          <p:cNvSpPr/>
          <p:nvPr/>
        </p:nvSpPr>
        <p:spPr>
          <a:xfrm>
            <a:off x="4719218" y="3337560"/>
            <a:ext cx="275325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B27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Parameter Management</a:t>
            </a:r>
            <a:endParaRPr lang="en-US" sz="1800" dirty="0"/>
          </a:p>
        </p:txBody>
      </p:sp>
      <p:sp>
        <p:nvSpPr>
          <p:cNvPr id="15" name="Text 11"/>
          <p:cNvSpPr/>
          <p:nvPr/>
        </p:nvSpPr>
        <p:spPr>
          <a:xfrm>
            <a:off x="4719218" y="3931920"/>
            <a:ext cx="275325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6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configuration system to manage SDR transmission parameters without low-level API calls.</a:t>
            </a:r>
            <a:endParaRPr lang="en-US" sz="1250" dirty="0"/>
          </a:p>
        </p:txBody>
      </p:sp>
      <p:sp>
        <p:nvSpPr>
          <p:cNvPr id="16" name="Shape 12"/>
          <p:cNvSpPr/>
          <p:nvPr/>
        </p:nvSpPr>
        <p:spPr>
          <a:xfrm>
            <a:off x="8158277" y="1737360"/>
            <a:ext cx="3393338" cy="3931920"/>
          </a:xfrm>
          <a:prstGeom prst="roundRect">
            <a:avLst>
              <a:gd name="adj" fmla="val 2156"/>
            </a:avLst>
          </a:prstGeom>
          <a:solidFill>
            <a:srgbClr val="F6EEF0"/>
          </a:solidFill>
          <a:ln/>
        </p:spPr>
      </p:sp>
      <p:sp>
        <p:nvSpPr>
          <p:cNvPr id="17" name="Shape 13"/>
          <p:cNvSpPr/>
          <p:nvPr/>
        </p:nvSpPr>
        <p:spPr>
          <a:xfrm>
            <a:off x="8524037" y="2103120"/>
            <a:ext cx="777240" cy="77724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98916" y="2277999"/>
            <a:ext cx="427482" cy="427482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478317" y="3017520"/>
            <a:ext cx="275325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5C0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</a:t>
            </a:r>
            <a:endParaRPr lang="en-US" sz="1150" dirty="0"/>
          </a:p>
        </p:txBody>
      </p:sp>
      <p:sp>
        <p:nvSpPr>
          <p:cNvPr id="20" name="Text 15"/>
          <p:cNvSpPr/>
          <p:nvPr/>
        </p:nvSpPr>
        <p:spPr>
          <a:xfrm>
            <a:off x="8478317" y="3337560"/>
            <a:ext cx="275325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B27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RS-232 Communication</a:t>
            </a:r>
            <a:endParaRPr lang="en-US" sz="1800" dirty="0"/>
          </a:p>
        </p:txBody>
      </p:sp>
      <p:sp>
        <p:nvSpPr>
          <p:cNvPr id="21" name="Text 16"/>
          <p:cNvSpPr/>
          <p:nvPr/>
        </p:nvSpPr>
        <p:spPr>
          <a:xfrm>
            <a:off x="8478317" y="3931920"/>
            <a:ext cx="275325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6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serial communication layer for exchanging commands and data with external equipment.</a:t>
            </a:r>
            <a:endParaRPr lang="en-US" sz="1250" dirty="0"/>
          </a:p>
        </p:txBody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728655" y="6336792"/>
            <a:ext cx="731520" cy="320040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24" name="Text 18"/>
          <p:cNvSpPr/>
          <p:nvPr/>
        </p:nvSpPr>
        <p:spPr>
          <a:xfrm>
            <a:off x="457200" y="64465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GMV — SDR Control &amp; RS-232 Interface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5C0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 EVOLUTION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B27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Requirements rarely stay fixed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5212080" cy="3566160"/>
          </a:xfrm>
          <a:prstGeom prst="roundRect">
            <a:avLst>
              <a:gd name="adj" fmla="val 2051"/>
            </a:avLst>
          </a:prstGeom>
          <a:solidFill>
            <a:srgbClr val="F6EEF0"/>
          </a:solidFill>
          <a:ln/>
        </p:spPr>
      </p:sp>
      <p:sp>
        <p:nvSpPr>
          <p:cNvPr id="5" name="Shape 3"/>
          <p:cNvSpPr/>
          <p:nvPr/>
        </p:nvSpPr>
        <p:spPr>
          <a:xfrm>
            <a:off x="1005840" y="2286000"/>
            <a:ext cx="731520" cy="73152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0432" y="2450592"/>
            <a:ext cx="402336" cy="40233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005840" y="315468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B27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Protocol misnomer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005840" y="3657600"/>
            <a:ext cx="4480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6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 proposal referred to RS-485; the external equipment actually used RS-232 from the outset. Identified early, before protocol-specific work began — no design impact.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309360" y="1920240"/>
            <a:ext cx="5212080" cy="3566160"/>
          </a:xfrm>
          <a:prstGeom prst="roundRect">
            <a:avLst>
              <a:gd name="adj" fmla="val 2051"/>
            </a:avLst>
          </a:prstGeom>
          <a:solidFill>
            <a:srgbClr val="5C0E2E"/>
          </a:solidFill>
          <a:ln/>
        </p:spPr>
      </p:sp>
      <p:sp>
        <p:nvSpPr>
          <p:cNvPr id="10" name="Shape 7"/>
          <p:cNvSpPr/>
          <p:nvPr/>
        </p:nvSpPr>
        <p:spPr>
          <a:xfrm>
            <a:off x="6675120" y="2286000"/>
            <a:ext cx="731520" cy="73152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39712" y="2450592"/>
            <a:ext cx="402336" cy="402336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675120" y="315468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Unplanned integration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6675120" y="3657600"/>
            <a:ext cx="4480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EBD9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components matured, integration with existing proprietary GMV systems became necessary — not part of the original scope, and the most effort-intensive change to the plan.</a:t>
            </a:r>
            <a:endParaRPr lang="en-US" sz="1300" dirty="0"/>
          </a:p>
        </p:txBody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28655" y="6336792"/>
            <a:ext cx="731520" cy="32004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16" name="Text 11"/>
          <p:cNvSpPr/>
          <p:nvPr/>
        </p:nvSpPr>
        <p:spPr>
          <a:xfrm>
            <a:off x="457200" y="64465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GMV — SDR Control &amp; RS-232 Interface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5C0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SDR CONTROL SYSTEM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B27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Client-server architecture over gRPC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1828800" cy="822960"/>
          </a:xfrm>
          <a:prstGeom prst="roundRect">
            <a:avLst>
              <a:gd name="adj" fmla="val 6667"/>
            </a:avLst>
          </a:prstGeom>
          <a:solidFill>
            <a:srgbClr val="F6EEF0"/>
          </a:solidFill>
          <a:ln w="12700">
            <a:solidFill>
              <a:srgbClr val="E4DCD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993392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B2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 Client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731520" y="2395728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B2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user-facing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108960" y="1920240"/>
            <a:ext cx="1828800" cy="822960"/>
          </a:xfrm>
          <a:prstGeom prst="roundRect">
            <a:avLst>
              <a:gd name="adj" fmla="val 6667"/>
            </a:avLst>
          </a:prstGeom>
          <a:solidFill>
            <a:srgbClr val="5C0E2E"/>
          </a:solidFill>
          <a:ln w="12700">
            <a:solidFill>
              <a:srgbClr val="E4DCD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00400" y="1993392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3200400" y="2395728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gRPC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577840" y="1920240"/>
            <a:ext cx="2194560" cy="822960"/>
          </a:xfrm>
          <a:prstGeom prst="roundRect">
            <a:avLst>
              <a:gd name="adj" fmla="val 6667"/>
            </a:avLst>
          </a:prstGeom>
          <a:solidFill>
            <a:srgbClr val="F6EEF0"/>
          </a:solidFill>
          <a:ln w="12700">
            <a:solidFill>
              <a:srgbClr val="E4DCD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0" y="1993392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B2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+ dt_facade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669280" y="2395728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B2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DTAPI wrapper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8412480" y="1920240"/>
            <a:ext cx="1463040" cy="822960"/>
          </a:xfrm>
          <a:prstGeom prst="roundRect">
            <a:avLst>
              <a:gd name="adj" fmla="val 6667"/>
            </a:avLst>
          </a:prstGeom>
          <a:solidFill>
            <a:srgbClr val="F6EEF0"/>
          </a:solidFill>
          <a:ln w="12700">
            <a:solidFill>
              <a:srgbClr val="E4DCD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503920" y="1993392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B2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DTAPI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503920" y="239572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B2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vendor SDK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10149840" y="1920240"/>
            <a:ext cx="1463040" cy="822960"/>
          </a:xfrm>
          <a:prstGeom prst="roundRect">
            <a:avLst>
              <a:gd name="adj" fmla="val 6667"/>
            </a:avLst>
          </a:prstGeom>
          <a:solidFill>
            <a:srgbClr val="0FA3A3"/>
          </a:solidFill>
          <a:ln w="12700">
            <a:solidFill>
              <a:srgbClr val="E4DCD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0241280" y="1993392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DTA-2115B /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DTA-2116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10241280" y="239572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PCIe cards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2468880" y="2331720"/>
            <a:ext cx="640080" cy="0"/>
          </a:xfrm>
          <a:prstGeom prst="line">
            <a:avLst/>
          </a:prstGeom>
          <a:noFill/>
          <a:ln w="19050">
            <a:solidFill>
              <a:srgbClr val="6B6570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4937760" y="2331720"/>
            <a:ext cx="640080" cy="0"/>
          </a:xfrm>
          <a:prstGeom prst="line">
            <a:avLst/>
          </a:prstGeom>
          <a:noFill/>
          <a:ln w="19050">
            <a:solidFill>
              <a:srgbClr val="6B6570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7772400" y="2331720"/>
            <a:ext cx="640080" cy="0"/>
          </a:xfrm>
          <a:prstGeom prst="line">
            <a:avLst/>
          </a:prstGeom>
          <a:noFill/>
          <a:ln w="19050">
            <a:solidFill>
              <a:srgbClr val="6B6570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9875520" y="2331720"/>
            <a:ext cx="274320" cy="0"/>
          </a:xfrm>
          <a:prstGeom prst="line">
            <a:avLst/>
          </a:prstGeom>
          <a:noFill/>
          <a:ln w="19050">
            <a:solidFill>
              <a:srgbClr val="6B6570"/>
            </a:solidFill>
            <a:prstDash val="solid"/>
            <a:tailEnd type="triangle"/>
          </a:ln>
        </p:spPr>
      </p:sp>
      <p:sp>
        <p:nvSpPr>
          <p:cNvPr id="23" name="Text 21"/>
          <p:cNvSpPr/>
          <p:nvPr/>
        </p:nvSpPr>
        <p:spPr>
          <a:xfrm>
            <a:off x="2926080" y="288036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.proto contract — stub &amp; skeleton autogenerated by protoc from the same source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640080" y="3657600"/>
            <a:ext cx="10881360" cy="2011680"/>
          </a:xfrm>
          <a:prstGeom prst="roundRect">
            <a:avLst>
              <a:gd name="adj" fmla="val 3636"/>
            </a:avLst>
          </a:prstGeom>
          <a:solidFill>
            <a:srgbClr val="F6EEF0"/>
          </a:solidFill>
          <a:ln/>
        </p:spPr>
      </p:sp>
      <p:sp>
        <p:nvSpPr>
          <p:cNvPr id="25" name="Text 23"/>
          <p:cNvSpPr/>
          <p:nvPr/>
        </p:nvSpPr>
        <p:spPr>
          <a:xfrm>
            <a:off x="914400" y="38404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C0E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gRPC?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914400" y="4251960"/>
            <a:ext cx="103327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300" dirty="0">
                <a:solidFill>
                  <a:srgbClr val="2B2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Reliability &amp; performance — proven in production systems</a:t>
            </a:r>
            <a:endParaRPr lang="en-US" sz="13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300" dirty="0">
                <a:solidFill>
                  <a:srgbClr val="2B2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Strongly-typed contract between server and client</a:t>
            </a:r>
            <a:endParaRPr lang="en-US" sz="13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300" dirty="0">
                <a:solidFill>
                  <a:srgbClr val="2B2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Reflection — debugging, config parsing, command discovery for free</a:t>
            </a:r>
            <a:endParaRPr lang="en-US" sz="1300" dirty="0"/>
          </a:p>
        </p:txBody>
      </p:sp>
      <p:pic>
        <p:nvPicPr>
          <p:cNvPr id="2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28655" y="6336792"/>
            <a:ext cx="731520" cy="320040"/>
          </a:xfrm>
          <a:prstGeom prst="rect">
            <a:avLst/>
          </a:prstGeom>
        </p:spPr>
      </p:pic>
      <p:sp>
        <p:nvSpPr>
          <p:cNvPr id="28" name="Text 25"/>
          <p:cNvSpPr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29" name="Text 26"/>
          <p:cNvSpPr/>
          <p:nvPr/>
        </p:nvSpPr>
        <p:spPr>
          <a:xfrm>
            <a:off x="457200" y="64465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GMV — SDR Control &amp; RS-232 Interface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5C0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DECISIONS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B27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Consistent principles across both systems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3393338" cy="3931920"/>
          </a:xfrm>
          <a:prstGeom prst="roundRect">
            <a:avLst>
              <a:gd name="adj" fmla="val 2156"/>
            </a:avLst>
          </a:prstGeom>
          <a:solidFill>
            <a:srgbClr val="F6EEF0"/>
          </a:solidFill>
          <a:ln/>
          <a:effectLst>
            <a:outerShdw sx="100000" sy="100000" kx="0" ky="0" algn="bl" rotWithShape="0" blurRad="101600" dist="38100" dir="5400000">
              <a:srgbClr val="000000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005840" y="2194560"/>
            <a:ext cx="777240" cy="77724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80719" y="2369439"/>
            <a:ext cx="427482" cy="42748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60120" y="3154680"/>
            <a:ext cx="275325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B27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Errors as values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960120" y="3749040"/>
            <a:ext cx="2753258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6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std::expected&lt;T,E&gt; instead of exceptions or C-style codes — explicit, compile-time checked error handling.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4399178" y="1828800"/>
            <a:ext cx="3393338" cy="3931920"/>
          </a:xfrm>
          <a:prstGeom prst="roundRect">
            <a:avLst>
              <a:gd name="adj" fmla="val 2156"/>
            </a:avLst>
          </a:prstGeom>
          <a:solidFill>
            <a:srgbClr val="F6EEF0"/>
          </a:solidFill>
          <a:ln/>
          <a:effectLst>
            <a:outerShdw sx="100000" sy="100000" kx="0" ky="0" algn="bl" rotWithShape="0" blurRad="101600" dist="381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64938" y="2194560"/>
            <a:ext cx="777240" cy="77724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9817" y="2369439"/>
            <a:ext cx="427482" cy="427482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19218" y="3154680"/>
            <a:ext cx="275325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B27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XMake build system</a:t>
            </a:r>
            <a:endParaRPr lang="en-US" sz="1600" dirty="0"/>
          </a:p>
        </p:txBody>
      </p:sp>
      <p:sp>
        <p:nvSpPr>
          <p:cNvPr id="13" name="Text 9"/>
          <p:cNvSpPr/>
          <p:nvPr/>
        </p:nvSpPr>
        <p:spPr>
          <a:xfrm>
            <a:off x="4719218" y="3749040"/>
            <a:ext cx="2753258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6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concise configuration, simpler package management, and faster cached builds than CMake/Ninja.</a:t>
            </a:r>
            <a:endParaRPr lang="en-US" sz="1250" dirty="0"/>
          </a:p>
        </p:txBody>
      </p:sp>
      <p:sp>
        <p:nvSpPr>
          <p:cNvPr id="14" name="Shape 10"/>
          <p:cNvSpPr/>
          <p:nvPr/>
        </p:nvSpPr>
        <p:spPr>
          <a:xfrm>
            <a:off x="8158277" y="1828800"/>
            <a:ext cx="3393338" cy="3931920"/>
          </a:xfrm>
          <a:prstGeom prst="roundRect">
            <a:avLst>
              <a:gd name="adj" fmla="val 2156"/>
            </a:avLst>
          </a:prstGeom>
          <a:solidFill>
            <a:srgbClr val="F6EEF0"/>
          </a:solidFill>
          <a:ln/>
          <a:effectLst>
            <a:outerShdw sx="100000" sy="100000" kx="0" ky="0" algn="bl" rotWithShape="0" blurRad="101600" dist="38100" dir="5400000">
              <a:srgbClr val="000000">
                <a:alpha val="8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524037" y="2194560"/>
            <a:ext cx="777240" cy="77724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98916" y="2369439"/>
            <a:ext cx="427482" cy="427482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478317" y="3154680"/>
            <a:ext cx="275325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B27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Boost.PFR serialisation</a:t>
            </a:r>
            <a:endParaRPr lang="en-US" sz="1600" dirty="0"/>
          </a:p>
        </p:txBody>
      </p:sp>
      <p:sp>
        <p:nvSpPr>
          <p:cNvPr id="18" name="Text 13"/>
          <p:cNvSpPr/>
          <p:nvPr/>
        </p:nvSpPr>
        <p:spPr>
          <a:xfrm>
            <a:off x="8478317" y="3749040"/>
            <a:ext cx="2753258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6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Automatic struct reflection for serialisation — no manual parsing boilerplate, no annotation macros.</a:t>
            </a:r>
            <a:endParaRPr lang="en-US" sz="1250" dirty="0"/>
          </a:p>
        </p:txBody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728655" y="6336792"/>
            <a:ext cx="731520" cy="320040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21" name="Text 15"/>
          <p:cNvSpPr/>
          <p:nvPr/>
        </p:nvSpPr>
        <p:spPr>
          <a:xfrm>
            <a:off x="457200" y="64465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GMV — SDR Control &amp; RS-232 Interface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5C0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SDR CONTROL DEMO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B27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Live demonstration of the SDR control system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10881360" cy="3931920"/>
          </a:xfrm>
          <a:prstGeom prst="roundRect">
            <a:avLst>
              <a:gd name="adj" fmla="val 1860"/>
            </a:avLst>
          </a:prstGeom>
          <a:solidFill>
            <a:srgbClr val="F6EEF0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28655" y="6336792"/>
            <a:ext cx="731520" cy="32004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457200" y="64465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GMV — SDR Control &amp; RS-232 Interface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5C0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RS-232 INTERFACE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B27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Protocol registration over a serial link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2011680"/>
            <a:ext cx="2377440" cy="731520"/>
          </a:xfrm>
          <a:prstGeom prst="roundRect">
            <a:avLst>
              <a:gd name="adj" fmla="val 7500"/>
            </a:avLst>
          </a:prstGeom>
          <a:solidFill>
            <a:srgbClr val="F6EEF0"/>
          </a:solidFill>
          <a:ln w="12700">
            <a:solidFill>
              <a:srgbClr val="E4DCD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201168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B2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Registry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" y="3291840"/>
            <a:ext cx="2377440" cy="731520"/>
          </a:xfrm>
          <a:prstGeom prst="roundRect">
            <a:avLst>
              <a:gd name="adj" fmla="val 7500"/>
            </a:avLst>
          </a:prstGeom>
          <a:solidFill>
            <a:srgbClr val="5C0E2E"/>
          </a:solidFill>
          <a:ln w="12700">
            <a:solidFill>
              <a:srgbClr val="E4DCD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329184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Reader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40080" y="4572000"/>
            <a:ext cx="2377440" cy="731520"/>
          </a:xfrm>
          <a:prstGeom prst="roundRect">
            <a:avLst>
              <a:gd name="adj" fmla="val 7500"/>
            </a:avLst>
          </a:prstGeom>
          <a:solidFill>
            <a:srgbClr val="5C0E2E"/>
          </a:solidFill>
          <a:ln w="12700">
            <a:solidFill>
              <a:srgbClr val="E4DCD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457200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Writer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023360" y="3291840"/>
            <a:ext cx="2560320" cy="731520"/>
          </a:xfrm>
          <a:prstGeom prst="roundRect">
            <a:avLst>
              <a:gd name="adj" fmla="val 7500"/>
            </a:avLst>
          </a:prstGeom>
          <a:solidFill>
            <a:srgbClr val="F6EEF0"/>
          </a:solidFill>
          <a:ln w="12700">
            <a:solidFill>
              <a:srgbClr val="E4DCD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023360" y="329184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B2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Serializer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2B2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(Boost.PFR)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023360" y="4572000"/>
            <a:ext cx="2560320" cy="731520"/>
          </a:xfrm>
          <a:prstGeom prst="roundRect">
            <a:avLst>
              <a:gd name="adj" fmla="val 7500"/>
            </a:avLst>
          </a:prstGeom>
          <a:solidFill>
            <a:srgbClr val="F6EEF0"/>
          </a:solidFill>
          <a:ln w="12700">
            <a:solidFill>
              <a:srgbClr val="E4DCD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023360" y="457200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B2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COBS Encoder /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2B2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Decoder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1828800" y="2743200"/>
            <a:ext cx="0" cy="548640"/>
          </a:xfrm>
          <a:prstGeom prst="line">
            <a:avLst/>
          </a:prstGeom>
          <a:noFill/>
          <a:ln w="19050">
            <a:solidFill>
              <a:srgbClr val="6B6570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1828800" y="4023360"/>
            <a:ext cx="0" cy="548640"/>
          </a:xfrm>
          <a:prstGeom prst="line">
            <a:avLst/>
          </a:prstGeom>
          <a:noFill/>
          <a:ln w="19050">
            <a:solidFill>
              <a:srgbClr val="6B6570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3017520" y="3657600"/>
            <a:ext cx="1005840" cy="0"/>
          </a:xfrm>
          <a:prstGeom prst="line">
            <a:avLst/>
          </a:prstGeom>
          <a:noFill/>
          <a:ln w="19050">
            <a:solidFill>
              <a:srgbClr val="6B6570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3017520" y="3657600"/>
            <a:ext cx="1005840" cy="1280160"/>
          </a:xfrm>
          <a:prstGeom prst="line">
            <a:avLst/>
          </a:prstGeom>
          <a:noFill/>
          <a:ln w="19050">
            <a:solidFill>
              <a:srgbClr val="6B6570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3017520" y="4937760"/>
            <a:ext cx="1005840" cy="-1280160"/>
          </a:xfrm>
          <a:prstGeom prst="line">
            <a:avLst/>
          </a:prstGeom>
          <a:noFill/>
          <a:ln w="19050">
            <a:solidFill>
              <a:srgbClr val="6B6570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3017520" y="4937760"/>
            <a:ext cx="1005840" cy="0"/>
          </a:xfrm>
          <a:prstGeom prst="line">
            <a:avLst/>
          </a:prstGeom>
          <a:noFill/>
          <a:ln w="19050">
            <a:solidFill>
              <a:srgbClr val="6B6570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7406640" y="2011680"/>
            <a:ext cx="4114800" cy="3291840"/>
          </a:xfrm>
          <a:prstGeom prst="roundRect">
            <a:avLst>
              <a:gd name="adj" fmla="val 2222"/>
            </a:avLst>
          </a:prstGeom>
          <a:solidFill>
            <a:srgbClr val="F6EEF0"/>
          </a:solidFill>
          <a:ln/>
        </p:spPr>
      </p:sp>
      <p:sp>
        <p:nvSpPr>
          <p:cNvPr id="21" name="Text 19"/>
          <p:cNvSpPr/>
          <p:nvPr/>
        </p:nvSpPr>
        <p:spPr>
          <a:xfrm>
            <a:off x="7680960" y="21945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C0E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Core ideas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7680960" y="2651760"/>
            <a:ext cx="36576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200" dirty="0">
                <a:solidFill>
                  <a:srgbClr val="2B2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Declare a C++ struct → register a handler, no core changes needed</a:t>
            </a:r>
            <a:endParaRPr lang="en-US" sz="12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200" dirty="0">
                <a:solidFill>
                  <a:srgbClr val="2B2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Boost.PFR auto-derives memory layout for serialisation</a:t>
            </a:r>
            <a:endParaRPr lang="en-US" sz="12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200" dirty="0">
                <a:solidFill>
                  <a:srgbClr val="2B2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COBS framing for reliable packet delimitation</a:t>
            </a:r>
            <a:endParaRPr lang="en-US" sz="12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200" dirty="0">
                <a:solidFill>
                  <a:srgbClr val="2B2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Lightweight — no gRPC-level overhead on a serial link</a:t>
            </a:r>
            <a:endParaRPr lang="en-US" sz="1200" dirty="0"/>
          </a:p>
        </p:txBody>
      </p:sp>
      <p:pic>
        <p:nvPicPr>
          <p:cNvPr id="2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28655" y="6336792"/>
            <a:ext cx="731520" cy="320040"/>
          </a:xfrm>
          <a:prstGeom prst="rect">
            <a:avLst/>
          </a:prstGeom>
        </p:spPr>
      </p:pic>
      <p:sp>
        <p:nvSpPr>
          <p:cNvPr id="24" name="Text 21"/>
          <p:cNvSpPr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  <p:sp>
        <p:nvSpPr>
          <p:cNvPr id="25" name="Text 22"/>
          <p:cNvSpPr/>
          <p:nvPr/>
        </p:nvSpPr>
        <p:spPr>
          <a:xfrm>
            <a:off x="457200" y="64465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GMV — SDR Control &amp; RS-232 Interface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5C0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INTEGRATION &amp; TESTING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B27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Validated against real hardware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5120640" cy="3931920"/>
          </a:xfrm>
          <a:prstGeom prst="roundRect">
            <a:avLst>
              <a:gd name="adj" fmla="val 1860"/>
            </a:avLst>
          </a:prstGeom>
          <a:solidFill>
            <a:srgbClr val="F6EEF0"/>
          </a:solidFill>
          <a:ln/>
        </p:spPr>
      </p:sp>
      <p:sp>
        <p:nvSpPr>
          <p:cNvPr id="5" name="Shape 3"/>
          <p:cNvSpPr/>
          <p:nvPr/>
        </p:nvSpPr>
        <p:spPr>
          <a:xfrm>
            <a:off x="960120" y="2103120"/>
            <a:ext cx="685800" cy="68580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4425" y="2257425"/>
            <a:ext cx="377190" cy="37719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783080" y="2194560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B27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External tester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960120" y="2926080"/>
            <a:ext cx="4572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6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Simulates the remote receiver over RS-232, exercising both systems end-to-end without needing full deployment hardware.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960120" y="4078224"/>
            <a:ext cx="109728" cy="109728"/>
          </a:xfrm>
          <a:prstGeom prst="ellipse">
            <a:avLst/>
          </a:prstGeom>
          <a:solidFill>
            <a:srgbClr val="0FA3A3"/>
          </a:solidFill>
          <a:ln/>
        </p:spPr>
      </p:sp>
      <p:sp>
        <p:nvSpPr>
          <p:cNvPr id="10" name="Text 7"/>
          <p:cNvSpPr/>
          <p:nvPr/>
        </p:nvSpPr>
        <p:spPr>
          <a:xfrm>
            <a:off x="1188720" y="393192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B2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1 — Power configuration (Rohde &amp; Schwarz NRQ6)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960120" y="4581144"/>
            <a:ext cx="109728" cy="109728"/>
          </a:xfrm>
          <a:prstGeom prst="ellipse">
            <a:avLst/>
          </a:prstGeom>
          <a:solidFill>
            <a:srgbClr val="0FA3A3"/>
          </a:solidFill>
          <a:ln/>
        </p:spPr>
      </p:sp>
      <p:sp>
        <p:nvSpPr>
          <p:cNvPr id="12" name="Text 9"/>
          <p:cNvSpPr/>
          <p:nvPr/>
        </p:nvSpPr>
        <p:spPr>
          <a:xfrm>
            <a:off x="1188720" y="443484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B2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2 — Frequency configuration (frequency counter)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960120" y="5084064"/>
            <a:ext cx="109728" cy="109728"/>
          </a:xfrm>
          <a:prstGeom prst="ellipse">
            <a:avLst/>
          </a:prstGeom>
          <a:solidFill>
            <a:srgbClr val="0FA3A3"/>
          </a:solidFill>
          <a:ln/>
        </p:spPr>
      </p:sp>
      <p:sp>
        <p:nvSpPr>
          <p:cNvPr id="14" name="Text 11"/>
          <p:cNvSpPr/>
          <p:nvPr/>
        </p:nvSpPr>
        <p:spPr>
          <a:xfrm>
            <a:off x="1188720" y="493776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B2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3 — Signal recording (Ettus USRP X310)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6035040" y="1828800"/>
            <a:ext cx="5486400" cy="3931920"/>
          </a:xfrm>
          <a:prstGeom prst="roundRect">
            <a:avLst>
              <a:gd name="adj" fmla="val 1860"/>
            </a:avLst>
          </a:prstGeom>
          <a:solidFill>
            <a:srgbClr val="5C0E2E"/>
          </a:solidFill>
          <a:ln/>
        </p:spPr>
      </p:sp>
      <p:sp>
        <p:nvSpPr>
          <p:cNvPr id="16" name="Shape 13"/>
          <p:cNvSpPr/>
          <p:nvPr/>
        </p:nvSpPr>
        <p:spPr>
          <a:xfrm>
            <a:off x="6355080" y="2103120"/>
            <a:ext cx="685800" cy="68580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09385" y="2257425"/>
            <a:ext cx="377190" cy="377190"/>
          </a:xfrm>
          <a:prstGeom prst="rect">
            <a:avLst/>
          </a:prstGeom>
        </p:spPr>
      </p:pic>
      <p:sp>
        <p:nvSpPr>
          <p:cNvPr id="18" name="Text 14"/>
          <p:cNvSpPr/>
          <p:nvPr/>
        </p:nvSpPr>
        <p:spPr>
          <a:xfrm>
            <a:off x="7178040" y="219456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finding worth noting</a:t>
            </a:r>
            <a:endParaRPr lang="en-US" sz="1600" dirty="0"/>
          </a:p>
        </p:txBody>
      </p:sp>
      <p:sp>
        <p:nvSpPr>
          <p:cNvPr id="19" name="Text 15"/>
          <p:cNvSpPr/>
          <p:nvPr/>
        </p:nvSpPr>
        <p:spPr>
          <a:xfrm>
            <a:off x="6355080" y="2926080"/>
            <a:ext cx="49377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BD9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During integration with GMV's proprietary systems, the gRPC client-server boundary was not exercised — the proprietary system links the app component directly, in-process.</a:t>
            </a:r>
            <a:endParaRPr lang="en-US" sz="1300" dirty="0"/>
          </a:p>
        </p:txBody>
      </p:sp>
      <p:sp>
        <p:nvSpPr>
          <p:cNvPr id="20" name="Text 16"/>
          <p:cNvSpPr/>
          <p:nvPr/>
        </p:nvSpPr>
        <p:spPr>
          <a:xfrm>
            <a:off x="6355080" y="4389120"/>
            <a:ext cx="4937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i="1" dirty="0">
                <a:solidFill>
                  <a:srgbClr val="D8C7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gRPC layer remains functional and independently testable through the CLI client — it just wasn't the path this particular integration needed.</a:t>
            </a:r>
            <a:endParaRPr lang="en-US" sz="1250" dirty="0"/>
          </a:p>
        </p:txBody>
      </p:sp>
      <p:pic>
        <p:nvPicPr>
          <p:cNvPr id="2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28655" y="6336792"/>
            <a:ext cx="731520" cy="320040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  <p:sp>
        <p:nvSpPr>
          <p:cNvPr id="23" name="Text 18"/>
          <p:cNvSpPr/>
          <p:nvPr/>
        </p:nvSpPr>
        <p:spPr>
          <a:xfrm>
            <a:off x="457200" y="64465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GMV — SDR Control &amp; RS-232 Interface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5C0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CHALLENGES FACED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B27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the hard problems actually were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5227168" cy="3657600"/>
          </a:xfrm>
          <a:prstGeom prst="roundRect">
            <a:avLst>
              <a:gd name="adj" fmla="val 2000"/>
            </a:avLst>
          </a:prstGeom>
          <a:solidFill>
            <a:srgbClr val="F6EEF0"/>
          </a:solidFill>
          <a:ln/>
        </p:spPr>
      </p:sp>
      <p:sp>
        <p:nvSpPr>
          <p:cNvPr id="5" name="Shape 3"/>
          <p:cNvSpPr/>
          <p:nvPr/>
        </p:nvSpPr>
        <p:spPr>
          <a:xfrm>
            <a:off x="1005840" y="2286000"/>
            <a:ext cx="777240" cy="77724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80719" y="2460879"/>
            <a:ext cx="427482" cy="42748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60120" y="3246120"/>
            <a:ext cx="45870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B27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DTAPI quirks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960120" y="3840480"/>
            <a:ext cx="458708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DTAPI documentation isn't always accurate; some functions have unexpected side effects. Some don't show complete error information.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324448" y="1920240"/>
            <a:ext cx="5227168" cy="3657600"/>
          </a:xfrm>
          <a:prstGeom prst="roundRect">
            <a:avLst>
              <a:gd name="adj" fmla="val 2000"/>
            </a:avLst>
          </a:prstGeom>
          <a:solidFill>
            <a:srgbClr val="F6EEF0"/>
          </a:solidFill>
          <a:ln/>
        </p:spPr>
      </p:sp>
      <p:sp>
        <p:nvSpPr>
          <p:cNvPr id="10" name="Shape 7"/>
          <p:cNvSpPr/>
          <p:nvPr/>
        </p:nvSpPr>
        <p:spPr>
          <a:xfrm>
            <a:off x="6690208" y="2286000"/>
            <a:ext cx="777240" cy="77724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65087" y="2460879"/>
            <a:ext cx="427482" cy="427482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644488" y="3246120"/>
            <a:ext cx="45870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B27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Serial driver &amp; wiring</a:t>
            </a:r>
            <a:endParaRPr lang="en-US" sz="1800" dirty="0"/>
          </a:p>
        </p:txBody>
      </p:sp>
      <p:sp>
        <p:nvSpPr>
          <p:cNvPr id="13" name="Text 9"/>
          <p:cNvSpPr/>
          <p:nvPr/>
        </p:nvSpPr>
        <p:spPr>
          <a:xfrm>
            <a:off x="6644488" y="3840480"/>
            <a:ext cx="458708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Generic 8250 driver was insufficient for the WCH CH382 card; replaced with the vendor driver. A missing null-modem adapter caused two DTE devices to transmit into each other's TX line.</a:t>
            </a:r>
            <a:endParaRPr lang="en-US" sz="1300" dirty="0"/>
          </a:p>
        </p:txBody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28655" y="6336792"/>
            <a:ext cx="731520" cy="32004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sp>
        <p:nvSpPr>
          <p:cNvPr id="16" name="Text 11"/>
          <p:cNvSpPr/>
          <p:nvPr/>
        </p:nvSpPr>
        <p:spPr>
          <a:xfrm>
            <a:off x="457200" y="64465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GMV — SDR Control &amp; RS-232 Interface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3D09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0FA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systems, one consistent engineering approach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2103120"/>
            <a:ext cx="548640" cy="548640"/>
          </a:xfrm>
          <a:prstGeom prst="ellipse">
            <a:avLst/>
          </a:prstGeom>
          <a:solidFill>
            <a:srgbClr val="5C0E2E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3524" y="2226564"/>
            <a:ext cx="301752" cy="30175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417320" y="2084832"/>
            <a:ext cx="9875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SDR Control System — a clean, remotely accessible, gRPC-based abstraction over the DTAPI.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640080" y="3246120"/>
            <a:ext cx="548640" cy="548640"/>
          </a:xfrm>
          <a:prstGeom prst="ellipse">
            <a:avLst/>
          </a:prstGeom>
          <a:solidFill>
            <a:srgbClr val="5C0E2E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" y="3369564"/>
            <a:ext cx="301752" cy="301752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417320" y="3227832"/>
            <a:ext cx="9875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RS-232 Interface — a lightweight, extensible protocol layer using Boost.PFR and COBS.</a:t>
            </a:r>
            <a:endParaRPr lang="en-US" sz="1500" dirty="0"/>
          </a:p>
        </p:txBody>
      </p:sp>
      <p:sp>
        <p:nvSpPr>
          <p:cNvPr id="10" name="Shape 6"/>
          <p:cNvSpPr/>
          <p:nvPr/>
        </p:nvSpPr>
        <p:spPr>
          <a:xfrm>
            <a:off x="640080" y="4389120"/>
            <a:ext cx="548640" cy="548640"/>
          </a:xfrm>
          <a:prstGeom prst="ellipse">
            <a:avLst/>
          </a:prstGeom>
          <a:solidFill>
            <a:srgbClr val="5C0E2E"/>
          </a:solidFill>
          <a:ln/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3524" y="4512564"/>
            <a:ext cx="301752" cy="301752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1417320" y="4370832"/>
            <a:ext cx="9875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Lesson: extensibility paid off for external, unpredictable change — but generality pursued ahead of need had a real cost.</a:t>
            </a:r>
            <a:endParaRPr lang="en-US" sz="1500" dirty="0"/>
          </a:p>
        </p:txBody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728655" y="6336792"/>
            <a:ext cx="731520" cy="32004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  <p:sp>
        <p:nvSpPr>
          <p:cNvPr id="15" name="Text 9"/>
          <p:cNvSpPr/>
          <p:nvPr/>
        </p:nvSpPr>
        <p:spPr>
          <a:xfrm>
            <a:off x="457200" y="64465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GMV — SDR Control &amp; RS-232 Interface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3D09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10048" y="2011680"/>
            <a:ext cx="1371600" cy="1371600"/>
          </a:xfrm>
          <a:prstGeom prst="ellipse">
            <a:avLst/>
          </a:prstGeom>
          <a:solidFill>
            <a:srgbClr val="5C0E2E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52948" y="2354580"/>
            <a:ext cx="685800" cy="6858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0" y="3657600"/>
            <a:ext cx="121916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</a:t>
            </a:r>
            <a:endParaRPr lang="en-US" sz="3600" dirty="0"/>
          </a:p>
        </p:txBody>
      </p:sp>
      <p:sp>
        <p:nvSpPr>
          <p:cNvPr id="5" name="Text 2"/>
          <p:cNvSpPr/>
          <p:nvPr/>
        </p:nvSpPr>
        <p:spPr>
          <a:xfrm>
            <a:off x="0" y="4389120"/>
            <a:ext cx="121916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FA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&amp; Discussion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Internship Defense — SDR Control &amp; RS-232 Interface (GMV)</dc:title>
  <dc:subject>PptxGenJS Presentation</dc:subject>
  <dc:creator>Gabriel Matias Falcão</dc:creator>
  <cp:lastModifiedBy>Gabriel Matias Falcão</cp:lastModifiedBy>
  <cp:revision>1</cp:revision>
  <dcterms:created xsi:type="dcterms:W3CDTF">2026-07-13T11:34:40Z</dcterms:created>
  <dcterms:modified xsi:type="dcterms:W3CDTF">2026-07-13T11:34:40Z</dcterms:modified>
</cp:coreProperties>
</file>