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3" name="Shape 1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4" name="Shape 2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5" name="Shape 3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6" name="Shape 4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7" name="Shape 5"/>
          <p:cNvSpPr/>
          <p:nvPr/>
        </p:nvSpPr>
        <p:spPr>
          <a:xfrm>
            <a:off x="10728655" y="274320"/>
            <a:ext cx="18288" cy="18288"/>
          </a:xfrm>
          <a:prstGeom prst="ellipse">
            <a:avLst/>
          </a:prstGeom>
          <a:noFill/>
          <a:ln/>
        </p:spPr>
      </p:sp>
      <p:sp>
        <p:nvSpPr>
          <p:cNvPr id="8" name="Shape 6"/>
          <p:cNvSpPr/>
          <p:nvPr/>
        </p:nvSpPr>
        <p:spPr>
          <a:xfrm>
            <a:off x="822960" y="822960"/>
            <a:ext cx="1188720" cy="118872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0422" y="1090422"/>
            <a:ext cx="653796" cy="6537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4688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CURRICULAR DEVELOPMENT ACTIVITY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Programmatic Control of SDR Hardware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GNSS Signal Transmission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548640" y="4754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Matias Falcão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in Computer Science — NOVA FCT  |  Initial curricular stage + continuation at GMV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7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11 — July 17,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GNSS signal simulation matters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1006" y="2288286"/>
            <a:ext cx="452628" cy="4526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GNSS constellations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GPS, Galileo, GLONASS, BeiDou — satellites broadcasting positioning signals to receivers worldwide.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104" y="2288286"/>
            <a:ext cx="452628" cy="4526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simulators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719218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satellite signals on the ground, enabling controlled, repeatable receiver testing without waiting on real satellites.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737360"/>
            <a:ext cx="3393338" cy="402336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031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03" y="2288286"/>
            <a:ext cx="452628" cy="4526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06324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as the transmission layer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78317" y="3657600"/>
            <a:ext cx="2753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Pre-computed I/Q samples are streamed through Software-Defined Radio hardware to produce realistic RF signals.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between hardware and high-level intent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1983105"/>
            <a:ext cx="377190" cy="377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is low-level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394960" y="17830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DekTec SDR hardware requires precise call sequencing, manual state management, and direct handling of FIFO/DMA details.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" y="3400425"/>
            <a:ext cx="377190" cy="3771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3200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bridge to open-source tools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394960" y="320040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solution connects open-source GNSS I/Q generators to professional-grade SDR hardware.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4663440"/>
            <a:ext cx="685800" cy="685800"/>
          </a:xfrm>
          <a:prstGeom prst="ellipse">
            <a:avLst/>
          </a:prstGeom>
          <a:solidFill>
            <a:srgbClr val="F6EEF0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" y="4817745"/>
            <a:ext cx="377190" cy="3771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46177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is only a physical link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5394960" y="461772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serial interface solves transport at the electrical level, but a robust high-level control path still has to be carried across it.</a:t>
            </a:r>
            <a:endParaRPr lang="en-US" sz="13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phases, one goal: programmatic control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5C0E2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27799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SDR Control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abstraction over the DTAPI for device management, signal transmission and synchronisation.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99178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1" name="Shape 8"/>
          <p:cNvSpPr/>
          <p:nvPr/>
        </p:nvSpPr>
        <p:spPr>
          <a:xfrm>
            <a:off x="4764938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277999"/>
            <a:ext cx="427482" cy="42748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19218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 Management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719218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configuration system to manage SDR transmission parameters without low-level API calls.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58277" y="173736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</p:spPr>
      </p:sp>
      <p:sp>
        <p:nvSpPr>
          <p:cNvPr id="17" name="Shape 13"/>
          <p:cNvSpPr/>
          <p:nvPr/>
        </p:nvSpPr>
        <p:spPr>
          <a:xfrm>
            <a:off x="8524037" y="2103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277999"/>
            <a:ext cx="427482" cy="42748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78317" y="3017520"/>
            <a:ext cx="27532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RS-232 Connectivity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78317" y="3931920"/>
            <a:ext cx="275325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serial connectivity layer for integrating external equipment and exposing the control plane across that link.</a:t>
            </a:r>
            <a:endParaRPr lang="en-US" sz="12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EVOLUTION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rarely stay fixed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25" y="230314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0175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RS-485 to RS-232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520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25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proposal mentioned RS-485, but the real equipment used RS-232 from the outset. This was identified early and had minimal design impact.</a:t>
            </a:r>
            <a:endParaRPr lang="en-US" sz="1225" dirty="0"/>
          </a:p>
        </p:txBody>
      </p:sp>
      <p:sp>
        <p:nvSpPr>
          <p:cNvPr id="9" name="Shape 6"/>
          <p:cNvSpPr/>
          <p:nvPr/>
        </p:nvSpPr>
        <p:spPr>
          <a:xfrm>
            <a:off x="4526280" y="1828800"/>
            <a:ext cx="3657600" cy="2743200"/>
          </a:xfrm>
          <a:prstGeom prst="roundRect">
            <a:avLst>
              <a:gd name="adj" fmla="val 2667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4846320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2303145"/>
            <a:ext cx="377190" cy="37719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46320" y="30175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PPP replaced custom serial protocol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846320" y="3520440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25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RS-232 application protocol was dropped in favour of PPP over the serial link, so the existing gRPC control plane could run over IP unchanged.</a:t>
            </a:r>
            <a:endParaRPr lang="en-US" sz="1225" dirty="0"/>
          </a:p>
        </p:txBody>
      </p:sp>
      <p:sp>
        <p:nvSpPr>
          <p:cNvPr id="14" name="Shape 10"/>
          <p:cNvSpPr/>
          <p:nvPr/>
        </p:nvSpPr>
        <p:spPr>
          <a:xfrm>
            <a:off x="8412480" y="1828800"/>
            <a:ext cx="3108960" cy="2743200"/>
          </a:xfrm>
          <a:prstGeom prst="roundRect">
            <a:avLst>
              <a:gd name="adj" fmla="val 2667"/>
            </a:avLst>
          </a:prstGeom>
          <a:solidFill>
            <a:srgbClr val="5C0E2E"/>
          </a:solidFill>
          <a:ln/>
        </p:spPr>
      </p:sp>
      <p:sp>
        <p:nvSpPr>
          <p:cNvPr id="15" name="Shape 11"/>
          <p:cNvSpPr/>
          <p:nvPr/>
        </p:nvSpPr>
        <p:spPr>
          <a:xfrm>
            <a:off x="8732520" y="214884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825" y="2303145"/>
            <a:ext cx="377190" cy="37719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732520" y="30175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Continuation at GMV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732520" y="35204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25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final architectural decisions were completed after the curricular stage, once the work continued directly under GMV.</a:t>
            </a:r>
            <a:endParaRPr lang="en-US" sz="1225" dirty="0"/>
          </a:p>
        </p:txBody>
      </p:sp>
      <p:sp>
        <p:nvSpPr>
          <p:cNvPr id="19" name="Shape 14"/>
          <p:cNvSpPr/>
          <p:nvPr/>
        </p:nvSpPr>
        <p:spPr>
          <a:xfrm>
            <a:off x="640080" y="4892040"/>
            <a:ext cx="10881360" cy="685800"/>
          </a:xfrm>
          <a:prstGeom prst="roundRect">
            <a:avLst>
              <a:gd name="adj" fmla="val 6667"/>
            </a:avLst>
          </a:prstGeom>
          <a:solidFill>
            <a:srgbClr val="F2E8EB"/>
          </a:solidFill>
          <a:ln w="12700">
            <a:solidFill>
              <a:srgbClr val="E4DC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Client-server architecture over gRPC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Client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user-facing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9202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199339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2395728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577840" y="1920240"/>
            <a:ext cx="21945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0" y="199339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+ dt_facade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6928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wrapper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41248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50392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SDK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149840" y="1920240"/>
            <a:ext cx="1463040" cy="82296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0" y="199339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DTA-2115B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DTA-2116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0" y="23957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cards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46888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3776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772400" y="2331720"/>
            <a:ext cx="64008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875520" y="2331720"/>
            <a:ext cx="27432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926080" y="2880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.proto contract — stub &amp; skeleton autogenerated by protoc from the same source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3657600"/>
            <a:ext cx="10881360" cy="2011680"/>
          </a:xfrm>
          <a:prstGeom prst="roundRect">
            <a:avLst>
              <a:gd name="adj" fmla="val 3636"/>
            </a:avLst>
          </a:prstGeom>
          <a:solidFill>
            <a:srgbClr val="F6EEF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840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gRPC?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14400" y="42519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&amp; performance — proven in production systems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Strongly-typed contract between server and client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— debugging, config parsing, command discovery for free</a:t>
            </a:r>
            <a:endParaRPr lang="en-US" sz="13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principles across both systems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36943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 as values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std::expected&lt;T,E&gt; instead of exceptions or C-style codes — explicit, compile-time checked error handling.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99178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64938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817" y="236943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19218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CMake build system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719218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integration with surrounding toolchains, test workflows, and packaging in a conventional C++ environment.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58277" y="1828800"/>
            <a:ext cx="3393338" cy="3931920"/>
          </a:xfrm>
          <a:prstGeom prst="roundRect">
            <a:avLst>
              <a:gd name="adj" fmla="val 2156"/>
            </a:avLst>
          </a:prstGeom>
          <a:solidFill>
            <a:srgbClr val="F6EEF0"/>
          </a:solidFill>
          <a:ln/>
          <a:effectLst>
            <a:outerShdw sx="100000" sy="100000" kx="0" ky="0" algn="bl" rotWithShape="0" blurRad="101600" dist="38100" dir="54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524037" y="2194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916" y="2369439"/>
            <a:ext cx="427482" cy="42748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8317" y="315468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 standard stacks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78317" y="3749040"/>
            <a:ext cx="275325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over RS-232 creates an IP link, allowing the same gRPC interface to be reused instead of maintaining a second custom protocol.</a:t>
            </a:r>
            <a:endParaRPr lang="en-US" sz="12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 of the SDR control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PPP over RS-232 carrying an IP channel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gRPC Client 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5C0E2E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2918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Stack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2651760" cy="822960"/>
          </a:xfrm>
          <a:prstGeom prst="roundRect">
            <a:avLst>
              <a:gd name="adj" fmla="val 6667"/>
            </a:avLst>
          </a:prstGeom>
          <a:solidFill>
            <a:srgbClr val="F6EEF0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5720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Endpoint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23360" y="4572000"/>
            <a:ext cx="2560320" cy="822960"/>
          </a:xfrm>
          <a:prstGeom prst="roundRect">
            <a:avLst>
              <a:gd name="adj" fmla="val 6667"/>
            </a:avLst>
          </a:prstGeom>
          <a:solidFill>
            <a:srgbClr val="0FA3A3"/>
          </a:solidFill>
          <a:ln w="12700">
            <a:solidFill>
              <a:srgbClr val="E4DC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23360" y="45720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Serial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965960" y="2834640"/>
            <a:ext cx="0" cy="45720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965960" y="4114800"/>
            <a:ext cx="0" cy="45720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291840" y="4983480"/>
            <a:ext cx="731520" cy="0"/>
          </a:xfrm>
          <a:prstGeom prst="line">
            <a:avLst/>
          </a:prstGeom>
          <a:noFill/>
          <a:ln w="1905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406640" y="2011680"/>
            <a:ext cx="4114800" cy="3291840"/>
          </a:xfrm>
          <a:prstGeom prst="roundRect">
            <a:avLst>
              <a:gd name="adj" fmla="val 2222"/>
            </a:avLst>
          </a:prstGeom>
          <a:solidFill>
            <a:srgbClr val="F6EEF0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2194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0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ideas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680960" y="26517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is kept as the physical transport only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PPP creates a point-to-point IP link over the serial byte stream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gRPC control plane then runs unchanged over that link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duplicated protocol logic, easier testing and debugging</a:t>
            </a:r>
            <a:endParaRPr lang="en-US" sz="12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tester and unit tests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20640" cy="3931920"/>
          </a:xfrm>
          <a:prstGeom prst="roundRect">
            <a:avLst>
              <a:gd name="adj" fmla="val 186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4425" y="2257425"/>
            <a:ext cx="377190" cy="37719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945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tester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the remote receiver over PPP on top of RS-232, exercising the serial link, IP transport and gRPC control path end-to-end.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960120" y="407822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0" name="Text 7"/>
          <p:cNvSpPr/>
          <p:nvPr/>
        </p:nvSpPr>
        <p:spPr>
          <a:xfrm>
            <a:off x="1188720" y="3931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the serial link, IP transport and gRPC path end-to-end.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60120" y="458114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2" name="Text 9"/>
          <p:cNvSpPr/>
          <p:nvPr/>
        </p:nvSpPr>
        <p:spPr>
          <a:xfrm>
            <a:off x="118872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for validating the integrated behaviour of the whole path.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60120" y="5084064"/>
            <a:ext cx="109728" cy="109728"/>
          </a:xfrm>
          <a:prstGeom prst="ellipse">
            <a:avLst/>
          </a:prstGeom>
          <a:solidFill>
            <a:srgbClr val="0FA3A3"/>
          </a:solidFill>
          <a:ln/>
        </p:spPr>
      </p:sp>
      <p:sp>
        <p:nvSpPr>
          <p:cNvPr id="14" name="Text 11"/>
          <p:cNvSpPr/>
          <p:nvPr/>
        </p:nvSpPr>
        <p:spPr>
          <a:xfrm>
            <a:off x="118872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the full path in a realistic setup before deployment.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0" y="1828800"/>
            <a:ext cx="5486400" cy="3931920"/>
          </a:xfrm>
          <a:prstGeom prst="roundRect">
            <a:avLst>
              <a:gd name="adj" fmla="val 1860"/>
            </a:avLst>
          </a:prstGeom>
          <a:solidFill>
            <a:srgbClr val="5C0E2E"/>
          </a:solidFill>
          <a:ln/>
        </p:spPr>
      </p:sp>
      <p:sp>
        <p:nvSpPr>
          <p:cNvPr id="16" name="Shape 13"/>
          <p:cNvSpPr/>
          <p:nvPr/>
        </p:nvSpPr>
        <p:spPr>
          <a:xfrm>
            <a:off x="6355080" y="2103120"/>
            <a:ext cx="685800" cy="685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385" y="2257425"/>
            <a:ext cx="377190" cy="37719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78040" y="2194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tests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6355080" y="292608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BD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smaller pieces of logic in isolation, making regressions easier to catch and debug during development.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355080" y="43891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i="1" dirty="0">
                <a:solidFill>
                  <a:srgbClr val="D8C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with the external tester, they provide both component-level confidence and end-to-end validation.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C0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hard problems actually were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719" y="2460879"/>
            <a:ext cx="427482" cy="42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DTAPI quirks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DTAPI documentation isn't always accurate; some functions have unexpected side effects. Some don't show complete error information.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3657600"/>
          </a:xfrm>
          <a:prstGeom prst="roundRect">
            <a:avLst>
              <a:gd name="adj" fmla="val 2000"/>
            </a:avLst>
          </a:prstGeom>
          <a:solidFill>
            <a:srgbClr val="F6EEF0"/>
          </a:solidFill>
          <a:ln/>
        </p:spPr>
      </p:sp>
      <p:sp>
        <p:nvSpPr>
          <p:cNvPr id="10" name="Shape 7"/>
          <p:cNvSpPr/>
          <p:nvPr/>
        </p:nvSpPr>
        <p:spPr>
          <a:xfrm>
            <a:off x="6690208" y="2286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087" y="246087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644488" y="3246120"/>
            <a:ext cx="458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B2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 driver &amp; wiring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44488" y="38404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8250 driver was insufficient for the WCH CH382 card; replaced with the vendor driver. A missing null-modem adapter caused two DTE devices to transmit into each other's TX line.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systems, one consistent engineering approach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2226564"/>
            <a:ext cx="301752" cy="30175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2084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Control System — a clean, remotely accessible, gRPC-based abstraction over the DTAPI.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3369564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17320" y="3227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RS-232 Interface — PPP over serial providing a standard IP channel for the same gRPC control plane.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40080" y="4389120"/>
            <a:ext cx="548640" cy="54864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4512564"/>
            <a:ext cx="301752" cy="3017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17320" y="4370832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extensibility paid off for external, unpredictable change — but generality pursued ahead of need had a real cost.</a:t>
            </a:r>
            <a:endParaRPr lang="en-US" sz="15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28655" y="6336792"/>
            <a:ext cx="731520" cy="32004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15" name="Text 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— SDR Control &amp; PPP over RS-232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D09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10048" y="2011680"/>
            <a:ext cx="1371600" cy="1371600"/>
          </a:xfrm>
          <a:prstGeom prst="ellipse">
            <a:avLst/>
          </a:prstGeom>
          <a:solidFill>
            <a:srgbClr val="5C0E2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2948" y="235458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6576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Internship Defense — SDR Control &amp; PPP over RS-232 (GMV)</dc:title>
  <dc:subject>PptxGenJS Presentation</dc:subject>
  <dc:creator>Gabriel Matias Falcão</dc:creator>
  <cp:lastModifiedBy>Gabriel Matias Falcão</cp:lastModifiedBy>
  <cp:revision>1</cp:revision>
  <dcterms:created xsi:type="dcterms:W3CDTF">2026-07-13T13:00:10Z</dcterms:created>
  <dcterms:modified xsi:type="dcterms:W3CDTF">2026-07-13T13:00:10Z</dcterms:modified>
</cp:coreProperties>
</file>