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9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3" name="Shape 1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4" name="Shape 2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5" name="Shape 3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6" name="Shape 4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7" name="Shape 5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8" name="Shape 6"/>
          <p:cNvSpPr/>
          <p:nvPr/>
        </p:nvSpPr>
        <p:spPr>
          <a:xfrm>
            <a:off x="822960" y="822960"/>
            <a:ext cx="1188720" cy="1188720"/>
          </a:xfrm>
          <a:prstGeom prst="ellipse">
            <a:avLst/>
          </a:prstGeom>
          <a:solidFill>
            <a:srgbClr val="5C0E2E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422" y="1090422"/>
            <a:ext cx="653796" cy="6537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2468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CURRICULAR DEVELOPMENT ACTIVITY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" y="283464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Programmatic Control of SDR Hardware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GNSS Signal Transmission</a:t>
            </a:r>
            <a:endParaRPr lang="en-US" sz="3800" dirty="0"/>
          </a:p>
        </p:txBody>
      </p:sp>
      <p:sp>
        <p:nvSpPr>
          <p:cNvPr id="12" name="Text 9"/>
          <p:cNvSpPr/>
          <p:nvPr/>
        </p:nvSpPr>
        <p:spPr>
          <a:xfrm>
            <a:off x="548640" y="4754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8C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Matias Falcão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8C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in Computer Science — NOVA FCT  |  Internship at GMV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4864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11 — July 17,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GNSS signal simulation matters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393338" cy="402336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10312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1006" y="2288286"/>
            <a:ext cx="452628" cy="4526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06324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GNSS constellations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60120" y="3657600"/>
            <a:ext cx="27532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GPS, Galileo, GLONASS, BeiDou — satellites broadcasting positioning signals to receivers worldwide.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99178" y="1737360"/>
            <a:ext cx="3393338" cy="402336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64938" y="210312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104" y="2288286"/>
            <a:ext cx="452628" cy="4526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19218" y="306324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 simulators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719218" y="3657600"/>
            <a:ext cx="27532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satellite signals on the ground, enabling controlled, repeatable receiver testing without waiting on real satellites.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58277" y="1737360"/>
            <a:ext cx="3393338" cy="402336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24037" y="210312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203" y="2288286"/>
            <a:ext cx="452628" cy="45262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78317" y="306324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SDR as the transmission layer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78317" y="3657600"/>
            <a:ext cx="27532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Pre-computed I/Q samples are streamed through Software-Defined Radio hardware to produce realistic RF signals.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gap between hardware and high-level intent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685800" cy="685800"/>
          </a:xfrm>
          <a:prstGeom prst="ellipse">
            <a:avLst/>
          </a:prstGeom>
          <a:solidFill>
            <a:srgbClr val="F6EEF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385" y="1983105"/>
            <a:ext cx="377190" cy="3771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7830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DTAPI is low-level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394960" y="178308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DekTec SDR hardware requires precise call sequencing, manual state management, and direct handling of FIFO/DMA details.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3246120"/>
            <a:ext cx="685800" cy="685800"/>
          </a:xfrm>
          <a:prstGeom prst="ellipse">
            <a:avLst/>
          </a:prstGeom>
          <a:solidFill>
            <a:srgbClr val="F6EEF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" y="3400425"/>
            <a:ext cx="377190" cy="37719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32004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bridge to open-source tools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394960" y="320040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solution connects open-source GNSS I/Q generators to professional-grade SDR hardware.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4663440"/>
            <a:ext cx="685800" cy="685800"/>
          </a:xfrm>
          <a:prstGeom prst="ellipse">
            <a:avLst/>
          </a:prstGeom>
          <a:solidFill>
            <a:srgbClr val="F6EEF0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" y="4817745"/>
            <a:ext cx="377190" cy="37719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54480" y="46177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RS-232 has no standard protocol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5394960" y="46177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Framing, message structure and field encoding are entirely bespoke — every integration reinvents the same byte-level logic.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phases, one goal: programmatic control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5C0E2E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1031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719" y="2277999"/>
            <a:ext cx="427482" cy="4274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01752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960120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SDR Control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60120" y="3931920"/>
            <a:ext cx="27532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BD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abstraction over the DTAPI for device management, signal transmission and synchronisation.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99178" y="173736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</p:spPr>
      </p:sp>
      <p:sp>
        <p:nvSpPr>
          <p:cNvPr id="11" name="Shape 8"/>
          <p:cNvSpPr/>
          <p:nvPr/>
        </p:nvSpPr>
        <p:spPr>
          <a:xfrm>
            <a:off x="4764938" y="21031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9817" y="2277999"/>
            <a:ext cx="427482" cy="42748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19218" y="301752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719218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Parameter Management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719218" y="3931920"/>
            <a:ext cx="27532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configuration system to manage SDR transmission parameters without low-level API calls.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58277" y="173736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</p:spPr>
      </p:sp>
      <p:sp>
        <p:nvSpPr>
          <p:cNvPr id="17" name="Shape 13"/>
          <p:cNvSpPr/>
          <p:nvPr/>
        </p:nvSpPr>
        <p:spPr>
          <a:xfrm>
            <a:off x="8524037" y="21031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8916" y="2277999"/>
            <a:ext cx="427482" cy="42748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78317" y="301752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8478317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RS-232 Communication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478317" y="3931920"/>
            <a:ext cx="27532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serial communication layer for exchanging commands and data with external equipment.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EVOLUTION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rarely stay fixed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12080" cy="3566160"/>
          </a:xfrm>
          <a:prstGeom prst="roundRect">
            <a:avLst>
              <a:gd name="adj" fmla="val 2051"/>
            </a:avLst>
          </a:prstGeom>
          <a:solidFill>
            <a:srgbClr val="F6EEF0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2860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4505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154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 misnomer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05840" y="365760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proposal referred to RS-485; the external equipment actually used RS-232 from the outset. Identified early, before protocol-specific work began — no design impact.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09360" y="1920240"/>
            <a:ext cx="5212080" cy="3566160"/>
          </a:xfrm>
          <a:prstGeom prst="roundRect">
            <a:avLst>
              <a:gd name="adj" fmla="val 2051"/>
            </a:avLst>
          </a:prstGeom>
          <a:solidFill>
            <a:srgbClr val="5C0E2E"/>
          </a:solidFill>
          <a:ln/>
        </p:spPr>
      </p:sp>
      <p:sp>
        <p:nvSpPr>
          <p:cNvPr id="10" name="Shape 7"/>
          <p:cNvSpPr/>
          <p:nvPr/>
        </p:nvSpPr>
        <p:spPr>
          <a:xfrm>
            <a:off x="6675120" y="22860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9712" y="24505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675120" y="3154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Unplanned integration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675120" y="365760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BD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components matured, integration with existing proprietary GMV systems became necessary — not part of the original scope, and the most effort-intensive change to the plan.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CONTROL SYSTEM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Client-server architecture over gRPC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9933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Client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3957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user-facing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92024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5C0E2E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0" y="19933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23957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577840" y="1920240"/>
            <a:ext cx="2194560" cy="822960"/>
          </a:xfrm>
          <a:prstGeom prst="roundRect">
            <a:avLst>
              <a:gd name="adj" fmla="val 6667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0" y="19933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+ dt_facade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0" y="23957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DTAPI wrapper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412480" y="1920240"/>
            <a:ext cx="1463040" cy="822960"/>
          </a:xfrm>
          <a:prstGeom prst="roundRect">
            <a:avLst>
              <a:gd name="adj" fmla="val 6667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03920" y="19933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DTAPI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03920" y="2395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SDK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149840" y="1920240"/>
            <a:ext cx="1463040" cy="822960"/>
          </a:xfrm>
          <a:prstGeom prst="roundRect">
            <a:avLst>
              <a:gd name="adj" fmla="val 6667"/>
            </a:avLst>
          </a:prstGeom>
          <a:solidFill>
            <a:srgbClr val="0FA3A3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41280" y="19933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DTA-2115B 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DTA-2116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241280" y="2395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PCIe cards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468880" y="2331720"/>
            <a:ext cx="64008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937760" y="2331720"/>
            <a:ext cx="64008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772400" y="2331720"/>
            <a:ext cx="64008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875520" y="2331720"/>
            <a:ext cx="27432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926080" y="2880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.proto contract — stub &amp; skeleton autogenerated by protoc from the same source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636"/>
            </a:avLst>
          </a:prstGeom>
          <a:solidFill>
            <a:srgbClr val="F6EEF0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840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gRPC?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" y="425196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&amp; performance — proven in production systems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Strongly-typed contract between server and client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— debugging, config parsing, command discovery for free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principles across both systems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19456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719" y="2369439"/>
            <a:ext cx="427482" cy="4274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15468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Errors as values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3749040"/>
            <a:ext cx="27532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std::expected&lt;T,E&gt; instead of exceptions or C-style codes — explicit, compile-time checked error handling.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99178" y="182880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64938" y="219456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9817" y="2369439"/>
            <a:ext cx="427482" cy="4274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19218" y="315468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XMake build system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719218" y="3749040"/>
            <a:ext cx="27532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concise configuration, simpler package management, and faster cached builds than CMake/Ninja.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58277" y="182880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24037" y="219456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8916" y="2369439"/>
            <a:ext cx="427482" cy="42748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78317" y="315468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Boost.PFR serialisation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478317" y="3749040"/>
            <a:ext cx="27532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struct reflection for serialisation — no manual parsing boilerplate, no annotation macros.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CONTROL 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demonstration of the SDR control system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3931920"/>
          </a:xfrm>
          <a:prstGeom prst="roundRect">
            <a:avLst>
              <a:gd name="adj" fmla="val 1860"/>
            </a:avLst>
          </a:prstGeom>
          <a:solidFill>
            <a:srgbClr val="F6EEF0"/>
          </a:solidFill>
          <a:ln/>
        </p:spPr>
      </p:sp>
      <p:sp>
        <p:nvSpPr>
          <p:cNvPr id="5" name="Text 3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RS-232 INTERFACE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 registration over a serial link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0116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32918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C0E2E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2918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5720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C0E2E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5720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23360" y="3291840"/>
            <a:ext cx="2560320" cy="731520"/>
          </a:xfrm>
          <a:prstGeom prst="roundRect">
            <a:avLst>
              <a:gd name="adj" fmla="val 7500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23360" y="3291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(Boost.PFR)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023360" y="4572000"/>
            <a:ext cx="2560320" cy="731520"/>
          </a:xfrm>
          <a:prstGeom prst="roundRect">
            <a:avLst>
              <a:gd name="adj" fmla="val 7500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COBS Encoder 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828800" y="2743200"/>
            <a:ext cx="0" cy="54864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828800" y="4023360"/>
            <a:ext cx="0" cy="54864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017520" y="3657600"/>
            <a:ext cx="100584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017520" y="3657600"/>
            <a:ext cx="1005840" cy="128016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017520" y="4937760"/>
            <a:ext cx="1005840" cy="-128016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017520" y="4937760"/>
            <a:ext cx="100584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406640" y="2011680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F6EEF0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0" y="2194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ideas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680960" y="265176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a C++ struct → register a handler, no core changes needed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Boost.PFR auto-derives memory layout for serialisation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COBS framing for reliable packet delimitation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— no gRPC-level overhead on a serial link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ITERATIONS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by narrowing the scope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05740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C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60120" y="2697480"/>
            <a:ext cx="2753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Reuse third-party program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3429000"/>
            <a:ext cx="275325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Abandoned — assumptions about threading and API extensibility didn't fit this use case.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069994" y="3749040"/>
            <a:ext cx="292608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399178" y="182880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</p:spPr>
      </p:sp>
      <p:sp>
        <p:nvSpPr>
          <p:cNvPr id="10" name="Text 8"/>
          <p:cNvSpPr/>
          <p:nvPr/>
        </p:nvSpPr>
        <p:spPr>
          <a:xfrm>
            <a:off x="4719218" y="205740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C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719218" y="2697480"/>
            <a:ext cx="2753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Fully general rewrite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19218" y="3429000"/>
            <a:ext cx="275325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Abandoned — supported modulation types were never required; generality cost more than it gave.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829093" y="3749040"/>
            <a:ext cx="292608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158277" y="182880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5C0E2E"/>
          </a:solidFill>
          <a:ln/>
        </p:spPr>
      </p:sp>
      <p:sp>
        <p:nvSpPr>
          <p:cNvPr id="15" name="Text 13"/>
          <p:cNvSpPr/>
          <p:nvPr/>
        </p:nvSpPr>
        <p:spPr>
          <a:xfrm>
            <a:off x="8478317" y="205740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A3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478317" y="2697480"/>
            <a:ext cx="2753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to DTA-2115B/2116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78317" y="3429000"/>
            <a:ext cx="275325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BD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— narrowing to actual requirements made the system simpler to implement, test and reason about.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&amp; TESTING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Validated against real hardware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120640" cy="3931920"/>
          </a:xfrm>
          <a:prstGeom prst="roundRect">
            <a:avLst>
              <a:gd name="adj" fmla="val 1860"/>
            </a:avLst>
          </a:prstGeom>
          <a:solidFill>
            <a:srgbClr val="F6EEF0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1031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425" y="2257425"/>
            <a:ext cx="377190" cy="3771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1945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 tester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29260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Simulates the remote receiver over RS-232, exercising both systems end-to-end without needing full deployment hardware.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960120" y="4078224"/>
            <a:ext cx="109728" cy="10972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0" name="Text 7"/>
          <p:cNvSpPr/>
          <p:nvPr/>
        </p:nvSpPr>
        <p:spPr>
          <a:xfrm>
            <a:off x="1188720" y="3931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— Power configuration (Rohde &amp; Schwarz NRQ6)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60120" y="4581144"/>
            <a:ext cx="109728" cy="10972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2" name="Text 9"/>
          <p:cNvSpPr/>
          <p:nvPr/>
        </p:nvSpPr>
        <p:spPr>
          <a:xfrm>
            <a:off x="1188720" y="4434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— Frequency configuration (frequency counter)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960120" y="5084064"/>
            <a:ext cx="109728" cy="10972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4" name="Text 11"/>
          <p:cNvSpPr/>
          <p:nvPr/>
        </p:nvSpPr>
        <p:spPr>
          <a:xfrm>
            <a:off x="1188720" y="4937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3 — Signal recording (Ettus USRP X310)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35040" y="182880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5C0E2E"/>
          </a:solidFill>
          <a:ln/>
        </p:spPr>
      </p:sp>
      <p:sp>
        <p:nvSpPr>
          <p:cNvPr id="16" name="Shape 13"/>
          <p:cNvSpPr/>
          <p:nvPr/>
        </p:nvSpPr>
        <p:spPr>
          <a:xfrm>
            <a:off x="6355080" y="21031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9385" y="2257425"/>
            <a:ext cx="377190" cy="37719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78040" y="21945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finding worth noting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6355080" y="292608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BD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integration with GMV's proprietary systems, the gRPC client-server boundary was not exercised — the proprietary system links the app component directly, in-process.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6355080" y="43891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D8C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gRPC layer remains functional and independently testable through the CLI client — it just wasn't the path this particular integration needed.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hard problems actually were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27168" cy="3657600"/>
          </a:xfrm>
          <a:prstGeom prst="roundRect">
            <a:avLst>
              <a:gd name="adj" fmla="val 2000"/>
            </a:avLst>
          </a:prstGeom>
          <a:solidFill>
            <a:srgbClr val="F6EEF0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28600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719" y="2460879"/>
            <a:ext cx="427482" cy="4274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246120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DTAPI quirks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60120" y="3840480"/>
            <a:ext cx="4587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DTAPI documentation isn't always accurate; some functions have unexpected side effects. Some don't show complete error information.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24448" y="1920240"/>
            <a:ext cx="5227168" cy="3657600"/>
          </a:xfrm>
          <a:prstGeom prst="roundRect">
            <a:avLst>
              <a:gd name="adj" fmla="val 2000"/>
            </a:avLst>
          </a:prstGeom>
          <a:solidFill>
            <a:srgbClr val="F6EEF0"/>
          </a:solidFill>
          <a:ln/>
        </p:spPr>
      </p:sp>
      <p:sp>
        <p:nvSpPr>
          <p:cNvPr id="10" name="Shape 7"/>
          <p:cNvSpPr/>
          <p:nvPr/>
        </p:nvSpPr>
        <p:spPr>
          <a:xfrm>
            <a:off x="6690208" y="228600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5087" y="2460879"/>
            <a:ext cx="427482" cy="4274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644488" y="3246120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Serial driver &amp; wiring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644488" y="3840480"/>
            <a:ext cx="4587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8250 driver was insufficient for the WCH CH382 card; replaced with the vendor driver. A missing null-modem adapter caused two DTE devices to transmit into each other's TX line.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D09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systems, one consistent engineering approach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48640" cy="548640"/>
          </a:xfrm>
          <a:prstGeom prst="ellipse">
            <a:avLst/>
          </a:prstGeom>
          <a:solidFill>
            <a:srgbClr val="5C0E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2226564"/>
            <a:ext cx="301752" cy="3017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2084832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Control System — a clean, remotely accessible, gRPC-based abstraction over the DTAPI.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5C0E2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" y="3369564"/>
            <a:ext cx="301752" cy="30175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3227832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RS-232 Interface — a lightweight, extensible protocol layer using Boost.PFR and COBS.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40080" y="4389120"/>
            <a:ext cx="548640" cy="548640"/>
          </a:xfrm>
          <a:prstGeom prst="ellipse">
            <a:avLst/>
          </a:prstGeom>
          <a:solidFill>
            <a:srgbClr val="5C0E2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4512564"/>
            <a:ext cx="301752" cy="30175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17320" y="4370832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extensibility paid off for external, unpredictable change — but generality pursued ahead of need had a real cost.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D09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0048" y="2011680"/>
            <a:ext cx="1371600" cy="1371600"/>
          </a:xfrm>
          <a:prstGeom prst="ellipse">
            <a:avLst/>
          </a:prstGeom>
          <a:solidFill>
            <a:srgbClr val="5C0E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2948" y="235458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6576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0" y="43891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Internship Defense — SDR Control &amp; RS-232 Interface (GMV)</dc:title>
  <dc:subject>PptxGenJS Presentation</dc:subject>
  <dc:creator>Gabriel Matias Falcão</dc:creator>
  <cp:lastModifiedBy>Gabriel Matias Falcão</cp:lastModifiedBy>
  <cp:revision>1</cp:revision>
  <dcterms:created xsi:type="dcterms:W3CDTF">2026-07-06T16:38:49Z</dcterms:created>
  <dcterms:modified xsi:type="dcterms:W3CDTF">2026-07-06T16:38:49Z</dcterms:modified>
</cp:coreProperties>
</file>